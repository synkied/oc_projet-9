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74" r:id="rId2"/>
    <p:sldId id="256" r:id="rId3"/>
    <p:sldId id="257" r:id="rId4"/>
    <p:sldId id="285" r:id="rId5"/>
    <p:sldId id="292" r:id="rId6"/>
    <p:sldId id="296" r:id="rId7"/>
    <p:sldId id="278" r:id="rId8"/>
    <p:sldId id="297" r:id="rId9"/>
    <p:sldId id="299" r:id="rId10"/>
    <p:sldId id="300" r:id="rId11"/>
    <p:sldId id="284" r:id="rId1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4C885"/>
    <a:srgbClr val="A0CC82"/>
    <a:srgbClr val="78B64E"/>
    <a:srgbClr val="FFE697"/>
    <a:srgbClr val="F6E882"/>
    <a:srgbClr val="FF5050"/>
    <a:srgbClr val="FBDBDB"/>
    <a:srgbClr val="EAD9FF"/>
    <a:srgbClr val="43009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97" d="100"/>
          <a:sy n="97" d="100"/>
        </p:scale>
        <p:origin x="102" y="432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2819D6-9618-45CA-A4D0-F3F0B09DC02D}" type="datetimeFigureOut">
              <a:rPr lang="fr-FR" smtClean="0"/>
              <a:t>23/04/2018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FAD80C-1B0F-4608-B490-406BE34CEB4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9495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2CD3C-23E9-4BF9-92A5-02D69918904F}" type="datetimeFigureOut">
              <a:rPr lang="fr-FR" smtClean="0"/>
              <a:t>23/04/2018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FF261-DA8D-40EB-B9BD-7F4FDA43F6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9724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2CD3C-23E9-4BF9-92A5-02D69918904F}" type="datetimeFigureOut">
              <a:rPr lang="fr-FR" smtClean="0"/>
              <a:t>23/04/2018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FF261-DA8D-40EB-B9BD-7F4FDA43F6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490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2CD3C-23E9-4BF9-92A5-02D69918904F}" type="datetimeFigureOut">
              <a:rPr lang="fr-FR" smtClean="0"/>
              <a:t>23/04/2018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FF261-DA8D-40EB-B9BD-7F4FDA43F6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7540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2CD3C-23E9-4BF9-92A5-02D69918904F}" type="datetimeFigureOut">
              <a:rPr lang="fr-FR" smtClean="0"/>
              <a:t>23/04/2018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FF261-DA8D-40EB-B9BD-7F4FDA43F6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1374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2CD3C-23E9-4BF9-92A5-02D69918904F}" type="datetimeFigureOut">
              <a:rPr lang="fr-FR" smtClean="0"/>
              <a:t>23/04/2018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FF261-DA8D-40EB-B9BD-7F4FDA43F6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6519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2CD3C-23E9-4BF9-92A5-02D69918904F}" type="datetimeFigureOut">
              <a:rPr lang="fr-FR" smtClean="0"/>
              <a:t>23/04/2018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FF261-DA8D-40EB-B9BD-7F4FDA43F6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9985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2CD3C-23E9-4BF9-92A5-02D69918904F}" type="datetimeFigureOut">
              <a:rPr lang="fr-FR" smtClean="0"/>
              <a:t>23/04/2018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FF261-DA8D-40EB-B9BD-7F4FDA43F6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9472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2CD3C-23E9-4BF9-92A5-02D69918904F}" type="datetimeFigureOut">
              <a:rPr lang="fr-FR" smtClean="0"/>
              <a:t>23/04/2018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FF261-DA8D-40EB-B9BD-7F4FDA43F6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2714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2CD3C-23E9-4BF9-92A5-02D69918904F}" type="datetimeFigureOut">
              <a:rPr lang="fr-FR" smtClean="0"/>
              <a:t>23/04/2018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FF261-DA8D-40EB-B9BD-7F4FDA43F6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4638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2CD3C-23E9-4BF9-92A5-02D69918904F}" type="datetimeFigureOut">
              <a:rPr lang="fr-FR" smtClean="0"/>
              <a:t>23/04/2018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FF261-DA8D-40EB-B9BD-7F4FDA43F6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4558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2CD3C-23E9-4BF9-92A5-02D69918904F}" type="datetimeFigureOut">
              <a:rPr lang="fr-FR" smtClean="0"/>
              <a:t>23/04/2018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FF261-DA8D-40EB-B9BD-7F4FDA43F6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8629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C2CD3C-23E9-4BF9-92A5-02D69918904F}" type="datetimeFigureOut">
              <a:rPr lang="fr-FR" smtClean="0"/>
              <a:t>23/04/2018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3FF261-DA8D-40EB-B9BD-7F4FDA43F6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407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/>
          <p:cNvSpPr txBox="1"/>
          <p:nvPr/>
        </p:nvSpPr>
        <p:spPr>
          <a:xfrm>
            <a:off x="1804489" y="765587"/>
            <a:ext cx="85830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7200" dirty="0" smtClean="0">
                <a:latin typeface="Bebas Neue" panose="020B0606020202050201" pitchFamily="34" charset="0"/>
              </a:rPr>
              <a:t>Présentation du document</a:t>
            </a:r>
            <a:endParaRPr lang="fr-FR" sz="7200" dirty="0">
              <a:latin typeface="Bebas Neue" panose="020B0606020202050201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155571" y="2873814"/>
            <a:ext cx="863096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b="1" dirty="0" smtClean="0"/>
              <a:t>Ce document a pour but de :</a:t>
            </a:r>
          </a:p>
          <a:p>
            <a:endParaRPr lang="fr-FR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 smtClean="0"/>
              <a:t>Résumer les documents de conception technique/fonctionnelle 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 smtClean="0"/>
              <a:t>Résumer le dossier d’exploitation.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"/>
            <a:ext cx="12192000" cy="6245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Pentagone 13"/>
          <p:cNvSpPr/>
          <p:nvPr/>
        </p:nvSpPr>
        <p:spPr>
          <a:xfrm>
            <a:off x="2230497" y="239913"/>
            <a:ext cx="102968" cy="119062"/>
          </a:xfrm>
          <a:prstGeom prst="homePlat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>
              <a:solidFill>
                <a:schemeClr val="accent2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ZoneTexte 14"/>
          <p:cNvSpPr txBox="1"/>
          <p:nvPr/>
        </p:nvSpPr>
        <p:spPr>
          <a:xfrm>
            <a:off x="2278883" y="114778"/>
            <a:ext cx="2725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Rappel du contexte</a:t>
            </a:r>
            <a:endParaRPr lang="fr-FR" b="1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446" y="749668"/>
            <a:ext cx="992305" cy="992305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8249" y="813971"/>
            <a:ext cx="928986" cy="928001"/>
          </a:xfrm>
          <a:prstGeom prst="rect">
            <a:avLst/>
          </a:prstGeom>
        </p:spPr>
      </p:pic>
      <p:sp>
        <p:nvSpPr>
          <p:cNvPr id="27" name="Arrondir un rectangle avec un coin diagonal 26"/>
          <p:cNvSpPr/>
          <p:nvPr/>
        </p:nvSpPr>
        <p:spPr>
          <a:xfrm>
            <a:off x="8162443" y="241182"/>
            <a:ext cx="99717" cy="119062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 b="1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8" name="ZoneTexte 27"/>
          <p:cNvSpPr txBox="1"/>
          <p:nvPr/>
        </p:nvSpPr>
        <p:spPr>
          <a:xfrm>
            <a:off x="5691505" y="122153"/>
            <a:ext cx="178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Fonctionnel</a:t>
            </a:r>
            <a:endParaRPr lang="fr-FR" b="1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9" name="ZoneTexte 28"/>
          <p:cNvSpPr txBox="1"/>
          <p:nvPr/>
        </p:nvSpPr>
        <p:spPr>
          <a:xfrm>
            <a:off x="8243955" y="119616"/>
            <a:ext cx="1669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177800" algn="l"/>
              </a:tabLst>
            </a:pPr>
            <a:r>
              <a:rPr lang="fr-FR" b="1" dirty="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Technique</a:t>
            </a:r>
            <a:endParaRPr lang="fr-FR" b="1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3" name="Arrondir un rectangle avec un coin diagonal 32"/>
          <p:cNvSpPr/>
          <p:nvPr/>
        </p:nvSpPr>
        <p:spPr>
          <a:xfrm>
            <a:off x="5591788" y="241182"/>
            <a:ext cx="99717" cy="119062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 b="1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2648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533"/>
    </mc:Choice>
    <mc:Fallback xmlns="">
      <p:transition spd="slow" advTm="57533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/>
          <p:cNvSpPr txBox="1"/>
          <p:nvPr/>
        </p:nvSpPr>
        <p:spPr>
          <a:xfrm>
            <a:off x="2254311" y="765587"/>
            <a:ext cx="76833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7200" dirty="0" smtClean="0">
                <a:latin typeface="Bebas Neue" panose="020B0606020202050201" pitchFamily="34" charset="0"/>
              </a:rPr>
              <a:t>Rappel du contexte</a:t>
            </a:r>
            <a:endParaRPr lang="fr-FR" sz="7200" dirty="0">
              <a:latin typeface="Bebas Neue" panose="020B0606020202050201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728633" y="3115806"/>
            <a:ext cx="90297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dirty="0" smtClean="0"/>
              <a:t>L’entreprise « </a:t>
            </a:r>
            <a:r>
              <a:rPr lang="fr-FR" sz="2400" dirty="0"/>
              <a:t>OC Pizza » est un jeune groupe de pizzeria en plein essor et spécialisé dans les pizzas livrées ou à emporter. </a:t>
            </a:r>
            <a:endParaRPr lang="fr-FR" sz="2400" dirty="0" smtClean="0"/>
          </a:p>
          <a:p>
            <a:r>
              <a:rPr lang="fr-FR" sz="2400" dirty="0" smtClean="0"/>
              <a:t>Elle compte </a:t>
            </a:r>
            <a:r>
              <a:rPr lang="fr-FR" sz="2400" dirty="0"/>
              <a:t>déjà 5 points de vente et prévoit d’en ouvrir au moins 3 de plus d’ici la fin de l’année.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1"/>
            <a:ext cx="12192000" cy="6245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0" name="Pentagone 29"/>
          <p:cNvSpPr/>
          <p:nvPr/>
        </p:nvSpPr>
        <p:spPr>
          <a:xfrm>
            <a:off x="2230497" y="239913"/>
            <a:ext cx="102968" cy="119062"/>
          </a:xfrm>
          <a:prstGeom prst="homePlat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>
              <a:solidFill>
                <a:schemeClr val="accent2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1" name="ZoneTexte 30"/>
          <p:cNvSpPr txBox="1"/>
          <p:nvPr/>
        </p:nvSpPr>
        <p:spPr>
          <a:xfrm>
            <a:off x="2278883" y="114778"/>
            <a:ext cx="2725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Rappel du contexte</a:t>
            </a:r>
            <a:endParaRPr lang="fr-FR" b="1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2" name="Arrondir un rectangle avec un coin diagonal 31"/>
          <p:cNvSpPr/>
          <p:nvPr/>
        </p:nvSpPr>
        <p:spPr>
          <a:xfrm>
            <a:off x="8162443" y="241182"/>
            <a:ext cx="99717" cy="119062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 b="1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3" name="ZoneTexte 32"/>
          <p:cNvSpPr txBox="1"/>
          <p:nvPr/>
        </p:nvSpPr>
        <p:spPr>
          <a:xfrm>
            <a:off x="5691505" y="122153"/>
            <a:ext cx="178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Fonctionnel</a:t>
            </a:r>
            <a:endParaRPr lang="fr-FR" b="1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4" name="ZoneTexte 33"/>
          <p:cNvSpPr txBox="1"/>
          <p:nvPr/>
        </p:nvSpPr>
        <p:spPr>
          <a:xfrm>
            <a:off x="8243955" y="119616"/>
            <a:ext cx="1669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177800" algn="l"/>
              </a:tabLst>
            </a:pPr>
            <a:r>
              <a:rPr lang="fr-FR" b="1" dirty="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Technique</a:t>
            </a:r>
            <a:endParaRPr lang="fr-FR" b="1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5" name="Arrondir un rectangle avec un coin diagonal 34"/>
          <p:cNvSpPr/>
          <p:nvPr/>
        </p:nvSpPr>
        <p:spPr>
          <a:xfrm>
            <a:off x="5591788" y="241182"/>
            <a:ext cx="99717" cy="119062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 b="1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3" name="Imag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446" y="749668"/>
            <a:ext cx="992305" cy="992305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8249" y="813971"/>
            <a:ext cx="928986" cy="92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58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533"/>
    </mc:Choice>
    <mc:Fallback xmlns="">
      <p:transition spd="slow" advTm="57533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/>
          <p:cNvSpPr/>
          <p:nvPr/>
        </p:nvSpPr>
        <p:spPr>
          <a:xfrm>
            <a:off x="1178960" y="3388341"/>
            <a:ext cx="10086157" cy="3254491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Titre 1"/>
          <p:cNvSpPr txBox="1">
            <a:spLocks/>
          </p:cNvSpPr>
          <p:nvPr/>
        </p:nvSpPr>
        <p:spPr>
          <a:xfrm>
            <a:off x="0" y="568142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b="1" dirty="0" smtClean="0">
                <a:latin typeface="Akzidenz-Grotesk BQ" pitchFamily="50" charset="0"/>
              </a:rPr>
              <a:t>Fonctionnalités attendues</a:t>
            </a:r>
            <a:endParaRPr lang="fr-FR" b="1" dirty="0">
              <a:latin typeface="Akzidenz-Grotesk BQ" pitchFamily="50" charset="0"/>
            </a:endParaRPr>
          </a:p>
        </p:txBody>
      </p:sp>
      <p:pic>
        <p:nvPicPr>
          <p:cNvPr id="18" name="Image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446" y="749668"/>
            <a:ext cx="992305" cy="992305"/>
          </a:xfrm>
          <a:prstGeom prst="rect">
            <a:avLst/>
          </a:prstGeom>
        </p:spPr>
      </p:pic>
      <p:pic>
        <p:nvPicPr>
          <p:cNvPr id="20" name="Image 1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8249" y="813971"/>
            <a:ext cx="928986" cy="928001"/>
          </a:xfrm>
          <a:prstGeom prst="rect">
            <a:avLst/>
          </a:prstGeom>
        </p:spPr>
      </p:pic>
      <p:pic>
        <p:nvPicPr>
          <p:cNvPr id="36" name="Image 3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1305" y="1801855"/>
            <a:ext cx="583157" cy="1714828"/>
          </a:xfrm>
          <a:prstGeom prst="rect">
            <a:avLst/>
          </a:prstGeom>
        </p:spPr>
      </p:pic>
      <p:pic>
        <p:nvPicPr>
          <p:cNvPr id="37" name="Image 3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3963" y="1755838"/>
            <a:ext cx="1199905" cy="1531128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438704" y="3501351"/>
            <a:ext cx="3409518" cy="30210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Rectangle 38"/>
          <p:cNvSpPr/>
          <p:nvPr/>
        </p:nvSpPr>
        <p:spPr>
          <a:xfrm>
            <a:off x="7589157" y="3501351"/>
            <a:ext cx="3409518" cy="30210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Rectangle 40"/>
          <p:cNvSpPr/>
          <p:nvPr/>
        </p:nvSpPr>
        <p:spPr>
          <a:xfrm>
            <a:off x="1517954" y="3884013"/>
            <a:ext cx="3251018" cy="2677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 smtClean="0">
                <a:solidFill>
                  <a:schemeClr val="bg1"/>
                </a:solidFill>
              </a:rPr>
              <a:t>Gérer commandes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 smtClean="0">
                <a:solidFill>
                  <a:schemeClr val="bg1"/>
                </a:solidFill>
              </a:rPr>
              <a:t>Suivre les commandes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 smtClean="0">
                <a:solidFill>
                  <a:schemeClr val="bg1"/>
                </a:solidFill>
              </a:rPr>
              <a:t>Gérer stocks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 smtClean="0">
                <a:solidFill>
                  <a:schemeClr val="bg1"/>
                </a:solidFill>
              </a:rPr>
              <a:t>Aide-mémoire pizzas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 smtClean="0">
                <a:solidFill>
                  <a:schemeClr val="bg1"/>
                </a:solidFill>
              </a:rPr>
              <a:t>Envoyer notifications </a:t>
            </a:r>
            <a:br>
              <a:rPr lang="fr-FR" sz="2400" dirty="0" smtClean="0">
                <a:solidFill>
                  <a:schemeClr val="bg1"/>
                </a:solidFill>
              </a:rPr>
            </a:br>
            <a:r>
              <a:rPr lang="fr-FR" sz="2400" dirty="0" smtClean="0">
                <a:solidFill>
                  <a:schemeClr val="bg1"/>
                </a:solidFill>
              </a:rPr>
              <a:t>aux clients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2400" dirty="0">
              <a:solidFill>
                <a:schemeClr val="bg1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7684714" y="3851899"/>
            <a:ext cx="3467424" cy="23083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 smtClean="0">
                <a:solidFill>
                  <a:schemeClr val="bg1"/>
                </a:solidFill>
              </a:rPr>
              <a:t>Consulter les produits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 smtClean="0">
                <a:solidFill>
                  <a:schemeClr val="bg1"/>
                </a:solidFill>
              </a:rPr>
              <a:t>Passer des commandes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 smtClean="0">
                <a:solidFill>
                  <a:schemeClr val="bg1"/>
                </a:solidFill>
              </a:rPr>
              <a:t>Payer en ligne</a:t>
            </a:r>
            <a:r>
              <a:rPr lang="fr-FR" sz="2400" dirty="0">
                <a:solidFill>
                  <a:schemeClr val="bg1"/>
                </a:solidFill>
              </a:rPr>
              <a:t> </a:t>
            </a:r>
            <a:br>
              <a:rPr lang="fr-FR" sz="2400" dirty="0">
                <a:solidFill>
                  <a:schemeClr val="bg1"/>
                </a:solidFill>
              </a:rPr>
            </a:br>
            <a:r>
              <a:rPr lang="fr-FR" sz="2400" dirty="0" smtClean="0">
                <a:solidFill>
                  <a:schemeClr val="bg1"/>
                </a:solidFill>
              </a:rPr>
              <a:t>ou à la livraison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 smtClean="0">
                <a:solidFill>
                  <a:schemeClr val="bg1"/>
                </a:solidFill>
              </a:rPr>
              <a:t>Modifier ou annuler</a:t>
            </a:r>
            <a:br>
              <a:rPr lang="fr-FR" sz="2400" dirty="0" smtClean="0">
                <a:solidFill>
                  <a:schemeClr val="bg1"/>
                </a:solidFill>
              </a:rPr>
            </a:br>
            <a:r>
              <a:rPr lang="fr-FR" sz="2400" dirty="0" smtClean="0">
                <a:solidFill>
                  <a:schemeClr val="bg1"/>
                </a:solidFill>
              </a:rPr>
              <a:t>une commande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584079" y="2887370"/>
            <a:ext cx="10474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b="1" dirty="0" smtClean="0"/>
              <a:t>Clients</a:t>
            </a:r>
            <a:endParaRPr lang="fr-FR" sz="2400" b="1" dirty="0"/>
          </a:p>
        </p:txBody>
      </p:sp>
      <p:sp>
        <p:nvSpPr>
          <p:cNvPr id="44" name="Rectangle 43"/>
          <p:cNvSpPr/>
          <p:nvPr/>
        </p:nvSpPr>
        <p:spPr>
          <a:xfrm>
            <a:off x="3294462" y="2887370"/>
            <a:ext cx="14105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b="1" dirty="0" smtClean="0"/>
              <a:t>Employés</a:t>
            </a:r>
            <a:endParaRPr lang="fr-FR" sz="2400" b="1" dirty="0"/>
          </a:p>
        </p:txBody>
      </p:sp>
      <p:sp>
        <p:nvSpPr>
          <p:cNvPr id="23" name="Rectangle 22"/>
          <p:cNvSpPr/>
          <p:nvPr/>
        </p:nvSpPr>
        <p:spPr>
          <a:xfrm>
            <a:off x="0" y="1"/>
            <a:ext cx="12192000" cy="6245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4" name="Pentagone 23"/>
          <p:cNvSpPr/>
          <p:nvPr/>
        </p:nvSpPr>
        <p:spPr>
          <a:xfrm>
            <a:off x="2230497" y="239913"/>
            <a:ext cx="102968" cy="119062"/>
          </a:xfrm>
          <a:prstGeom prst="homePlat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>
              <a:solidFill>
                <a:schemeClr val="accent2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ZoneTexte 24"/>
          <p:cNvSpPr txBox="1"/>
          <p:nvPr/>
        </p:nvSpPr>
        <p:spPr>
          <a:xfrm>
            <a:off x="2278883" y="114778"/>
            <a:ext cx="2725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Rappel du contexte</a:t>
            </a:r>
            <a:endParaRPr lang="fr-FR" b="1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6" name="Arrondir un rectangle avec un coin diagonal 25"/>
          <p:cNvSpPr/>
          <p:nvPr/>
        </p:nvSpPr>
        <p:spPr>
          <a:xfrm>
            <a:off x="8162443" y="241182"/>
            <a:ext cx="99717" cy="119062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 b="1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8" name="ZoneTexte 27"/>
          <p:cNvSpPr txBox="1"/>
          <p:nvPr/>
        </p:nvSpPr>
        <p:spPr>
          <a:xfrm>
            <a:off x="5691505" y="122153"/>
            <a:ext cx="178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Fonctionnel</a:t>
            </a:r>
            <a:endParaRPr lang="fr-FR" b="1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9" name="ZoneTexte 28"/>
          <p:cNvSpPr txBox="1"/>
          <p:nvPr/>
        </p:nvSpPr>
        <p:spPr>
          <a:xfrm>
            <a:off x="8243955" y="119616"/>
            <a:ext cx="1669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177800" algn="l"/>
              </a:tabLst>
            </a:pPr>
            <a:r>
              <a:rPr lang="fr-FR" b="1" dirty="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Technique</a:t>
            </a:r>
            <a:endParaRPr lang="fr-FR" b="1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0" name="Arrondir un rectangle avec un coin diagonal 29"/>
          <p:cNvSpPr/>
          <p:nvPr/>
        </p:nvSpPr>
        <p:spPr>
          <a:xfrm>
            <a:off x="5591788" y="241182"/>
            <a:ext cx="99717" cy="119062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 b="1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06683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38"/>
    </mc:Choice>
    <mc:Fallback xmlns="">
      <p:transition spd="slow" advTm="753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7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38" grpId="0" animBg="1"/>
      <p:bldP spid="39" grpId="0" animBg="1"/>
      <p:bldP spid="41" grpId="0"/>
      <p:bldP spid="42" grpId="0"/>
      <p:bldP spid="43" grpId="0"/>
      <p:bldP spid="4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rganigramme : Processus 19"/>
          <p:cNvSpPr/>
          <p:nvPr/>
        </p:nvSpPr>
        <p:spPr>
          <a:xfrm>
            <a:off x="1462369" y="2192593"/>
            <a:ext cx="8840475" cy="3716594"/>
          </a:xfrm>
          <a:prstGeom prst="flowChartProces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12192000" cy="6245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Pentagone 4"/>
          <p:cNvSpPr/>
          <p:nvPr/>
        </p:nvSpPr>
        <p:spPr>
          <a:xfrm>
            <a:off x="5620324" y="239913"/>
            <a:ext cx="102968" cy="119062"/>
          </a:xfrm>
          <a:prstGeom prst="homePlat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>
              <a:solidFill>
                <a:schemeClr val="accent2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2278883" y="114778"/>
            <a:ext cx="2725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Rappel du contexte</a:t>
            </a:r>
            <a:endParaRPr lang="fr-FR" b="1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Arrondir un rectangle avec un coin diagonal 6"/>
          <p:cNvSpPr/>
          <p:nvPr/>
        </p:nvSpPr>
        <p:spPr>
          <a:xfrm>
            <a:off x="8162443" y="241182"/>
            <a:ext cx="99717" cy="119062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 b="1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5691505" y="122153"/>
            <a:ext cx="178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Fonctionnel</a:t>
            </a:r>
            <a:endParaRPr lang="fr-FR" b="1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8243955" y="119616"/>
            <a:ext cx="1669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177800" algn="l"/>
              </a:tabLst>
            </a:pPr>
            <a:r>
              <a:rPr lang="fr-FR" b="1" dirty="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Technique</a:t>
            </a:r>
            <a:endParaRPr lang="fr-FR" b="1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Arrondir un rectangle avec un coin diagonal 9"/>
          <p:cNvSpPr/>
          <p:nvPr/>
        </p:nvSpPr>
        <p:spPr>
          <a:xfrm>
            <a:off x="2188269" y="241182"/>
            <a:ext cx="99717" cy="119062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 b="1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1584356" y="765587"/>
            <a:ext cx="90232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7200" dirty="0" smtClean="0">
                <a:latin typeface="Bebas Neue" panose="020B0606020202050201" pitchFamily="34" charset="0"/>
              </a:rPr>
              <a:t>Architecture technique</a:t>
            </a:r>
            <a:endParaRPr lang="fr-FR" sz="7200" dirty="0">
              <a:latin typeface="Bebas Neue" panose="020B0606020202050201" pitchFamily="34" charset="0"/>
            </a:endParaRPr>
          </a:p>
        </p:txBody>
      </p:sp>
      <p:pic>
        <p:nvPicPr>
          <p:cNvPr id="12" name="Imag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446" y="749668"/>
            <a:ext cx="992305" cy="992305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8249" y="813971"/>
            <a:ext cx="928986" cy="928001"/>
          </a:xfrm>
          <a:prstGeom prst="rect">
            <a:avLst/>
          </a:prstGeom>
        </p:spPr>
      </p:pic>
      <p:sp>
        <p:nvSpPr>
          <p:cNvPr id="15" name="Nuage 14"/>
          <p:cNvSpPr/>
          <p:nvPr/>
        </p:nvSpPr>
        <p:spPr>
          <a:xfrm>
            <a:off x="8652387" y="1823597"/>
            <a:ext cx="2172229" cy="1536136"/>
          </a:xfrm>
          <a:prstGeom prst="cloud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 smtClean="0"/>
              <a:t>HEROKU</a:t>
            </a:r>
            <a:endParaRPr lang="fr-FR" sz="2400" dirty="0"/>
          </a:p>
        </p:txBody>
      </p:sp>
      <p:sp>
        <p:nvSpPr>
          <p:cNvPr id="16" name="Cylindre 15"/>
          <p:cNvSpPr/>
          <p:nvPr/>
        </p:nvSpPr>
        <p:spPr>
          <a:xfrm>
            <a:off x="7840550" y="3533976"/>
            <a:ext cx="1757193" cy="1216152"/>
          </a:xfrm>
          <a:prstGeom prst="can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&lt;&lt;DATABASE&gt;&gt;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7" name="Organigramme : Processus 16"/>
          <p:cNvSpPr/>
          <p:nvPr/>
        </p:nvSpPr>
        <p:spPr>
          <a:xfrm>
            <a:off x="4968206" y="3629819"/>
            <a:ext cx="1828800" cy="1024467"/>
          </a:xfrm>
          <a:prstGeom prst="flowChartProcess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Application </a:t>
            </a:r>
            <a:r>
              <a:rPr lang="fr-FR" dirty="0" err="1" smtClean="0">
                <a:solidFill>
                  <a:schemeClr val="tx1"/>
                </a:solidFill>
              </a:rPr>
              <a:t>core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8" name="Organigramme : Processus 17"/>
          <p:cNvSpPr/>
          <p:nvPr/>
        </p:nvSpPr>
        <p:spPr>
          <a:xfrm>
            <a:off x="2095862" y="2847499"/>
            <a:ext cx="1828800" cy="1024467"/>
          </a:xfrm>
          <a:prstGeom prst="flowChartProcess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&lt;&lt;interface&gt;&gt;</a:t>
            </a:r>
          </a:p>
          <a:p>
            <a:pPr algn="ctr"/>
            <a:r>
              <a:rPr lang="fr-FR" dirty="0" smtClean="0">
                <a:solidFill>
                  <a:schemeClr val="tx1"/>
                </a:solidFill>
              </a:rPr>
              <a:t>Back interface</a:t>
            </a:r>
          </a:p>
        </p:txBody>
      </p:sp>
      <p:sp>
        <p:nvSpPr>
          <p:cNvPr id="19" name="Organigramme : Processus 18"/>
          <p:cNvSpPr/>
          <p:nvPr/>
        </p:nvSpPr>
        <p:spPr>
          <a:xfrm>
            <a:off x="2095862" y="4461253"/>
            <a:ext cx="1828800" cy="1024467"/>
          </a:xfrm>
          <a:prstGeom prst="flowChartProcess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&lt;&lt;interface&gt;&gt;</a:t>
            </a:r>
          </a:p>
          <a:p>
            <a:pPr algn="ctr"/>
            <a:r>
              <a:rPr lang="fr-FR" dirty="0" smtClean="0">
                <a:solidFill>
                  <a:schemeClr val="tx1"/>
                </a:solidFill>
              </a:rPr>
              <a:t>Front interface</a:t>
            </a:r>
          </a:p>
        </p:txBody>
      </p:sp>
      <p:cxnSp>
        <p:nvCxnSpPr>
          <p:cNvPr id="22" name="Connecteur droit avec flèche 21"/>
          <p:cNvCxnSpPr>
            <a:stCxn id="17" idx="3"/>
            <a:endCxn id="16" idx="2"/>
          </p:cNvCxnSpPr>
          <p:nvPr/>
        </p:nvCxnSpPr>
        <p:spPr>
          <a:xfrm flipV="1">
            <a:off x="6797006" y="4142052"/>
            <a:ext cx="1043544" cy="1"/>
          </a:xfrm>
          <a:prstGeom prst="straightConnector1">
            <a:avLst/>
          </a:prstGeom>
          <a:ln w="28575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en angle 27"/>
          <p:cNvCxnSpPr>
            <a:stCxn id="18" idx="3"/>
            <a:endCxn id="17" idx="1"/>
          </p:cNvCxnSpPr>
          <p:nvPr/>
        </p:nvCxnSpPr>
        <p:spPr>
          <a:xfrm>
            <a:off x="3924662" y="3359733"/>
            <a:ext cx="1043544" cy="78232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en angle 29"/>
          <p:cNvCxnSpPr>
            <a:stCxn id="19" idx="3"/>
            <a:endCxn id="17" idx="1"/>
          </p:cNvCxnSpPr>
          <p:nvPr/>
        </p:nvCxnSpPr>
        <p:spPr>
          <a:xfrm flipV="1">
            <a:off x="3924662" y="4142053"/>
            <a:ext cx="1043544" cy="831434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186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"/>
            <a:ext cx="12192000" cy="6245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Pentagone 4"/>
          <p:cNvSpPr/>
          <p:nvPr/>
        </p:nvSpPr>
        <p:spPr>
          <a:xfrm>
            <a:off x="5620324" y="239913"/>
            <a:ext cx="102968" cy="119062"/>
          </a:xfrm>
          <a:prstGeom prst="homePlat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>
              <a:solidFill>
                <a:schemeClr val="accent2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2278883" y="114778"/>
            <a:ext cx="2725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Rappel du contexte</a:t>
            </a:r>
            <a:endParaRPr lang="fr-FR" b="1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Arrondir un rectangle avec un coin diagonal 6"/>
          <p:cNvSpPr/>
          <p:nvPr/>
        </p:nvSpPr>
        <p:spPr>
          <a:xfrm>
            <a:off x="8162443" y="241182"/>
            <a:ext cx="99717" cy="119062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 b="1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5691505" y="122153"/>
            <a:ext cx="178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Fonctionnel</a:t>
            </a:r>
            <a:endParaRPr lang="fr-FR" b="1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8243955" y="119616"/>
            <a:ext cx="1669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177800" algn="l"/>
              </a:tabLst>
            </a:pPr>
            <a:r>
              <a:rPr lang="fr-FR" b="1" dirty="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Technique</a:t>
            </a:r>
            <a:endParaRPr lang="fr-FR" b="1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Arrondir un rectangle avec un coin diagonal 9"/>
          <p:cNvSpPr/>
          <p:nvPr/>
        </p:nvSpPr>
        <p:spPr>
          <a:xfrm>
            <a:off x="2188269" y="241182"/>
            <a:ext cx="99717" cy="119062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 b="1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1584356" y="765587"/>
            <a:ext cx="90232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7200" dirty="0" smtClean="0">
                <a:latin typeface="Bebas Neue" panose="020B0606020202050201" pitchFamily="34" charset="0"/>
              </a:rPr>
              <a:t>Architecture technique</a:t>
            </a:r>
            <a:endParaRPr lang="fr-FR" sz="7200" dirty="0">
              <a:latin typeface="Bebas Neue" panose="020B0606020202050201" pitchFamily="34" charset="0"/>
            </a:endParaRPr>
          </a:p>
        </p:txBody>
      </p:sp>
      <p:pic>
        <p:nvPicPr>
          <p:cNvPr id="12" name="Imag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446" y="749668"/>
            <a:ext cx="992305" cy="992305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8249" y="813971"/>
            <a:ext cx="928986" cy="928001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2116242" y="2628008"/>
            <a:ext cx="841958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b="1" dirty="0" smtClean="0">
                <a:solidFill>
                  <a:schemeClr val="accent6"/>
                </a:solidFill>
              </a:rPr>
              <a:t>Avantages</a:t>
            </a:r>
          </a:p>
          <a:p>
            <a:endParaRPr lang="fr-FR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 smtClean="0"/>
              <a:t>Application modulable et extensible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  <p:sp>
        <p:nvSpPr>
          <p:cNvPr id="2" name="Rectangle 1"/>
          <p:cNvSpPr/>
          <p:nvPr/>
        </p:nvSpPr>
        <p:spPr>
          <a:xfrm>
            <a:off x="2116242" y="4582761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sz="2400" b="1" dirty="0">
                <a:solidFill>
                  <a:srgbClr val="FFC000"/>
                </a:solidFill>
              </a:rPr>
              <a:t>Inconvénient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Dépendre du prestataire cloud</a:t>
            </a:r>
          </a:p>
        </p:txBody>
      </p:sp>
      <p:sp>
        <p:nvSpPr>
          <p:cNvPr id="3" name="Rectangle 2"/>
          <p:cNvSpPr/>
          <p:nvPr/>
        </p:nvSpPr>
        <p:spPr>
          <a:xfrm>
            <a:off x="2116242" y="3836216"/>
            <a:ext cx="37685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/>
              <a:t>Pas de gestion de serveurs</a:t>
            </a:r>
          </a:p>
        </p:txBody>
      </p:sp>
    </p:spTree>
    <p:extLst>
      <p:ext uri="{BB962C8B-B14F-4D97-AF65-F5344CB8AC3E}">
        <p14:creationId xmlns:p14="http://schemas.microsoft.com/office/powerpoint/2010/main" val="407235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" grpId="0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ZoneTexte 18"/>
          <p:cNvSpPr txBox="1"/>
          <p:nvPr/>
        </p:nvSpPr>
        <p:spPr>
          <a:xfrm>
            <a:off x="1584356" y="765587"/>
            <a:ext cx="90232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7200" dirty="0" smtClean="0">
                <a:latin typeface="Bebas Neue" panose="020B0606020202050201" pitchFamily="34" charset="0"/>
              </a:rPr>
              <a:t>Modèle physique de données</a:t>
            </a:r>
            <a:endParaRPr lang="fr-FR" sz="7200" dirty="0">
              <a:latin typeface="Bebas Neue" panose="020B0606020202050201" pitchFamily="34" charset="0"/>
            </a:endParaRPr>
          </a:p>
        </p:txBody>
      </p:sp>
      <p:pic>
        <p:nvPicPr>
          <p:cNvPr id="48" name="Image 4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446" y="749668"/>
            <a:ext cx="992305" cy="992305"/>
          </a:xfrm>
          <a:prstGeom prst="rect">
            <a:avLst/>
          </a:prstGeom>
        </p:spPr>
      </p:pic>
      <p:pic>
        <p:nvPicPr>
          <p:cNvPr id="49" name="Image 4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8249" y="813971"/>
            <a:ext cx="928986" cy="928001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0" y="1"/>
            <a:ext cx="12192000" cy="6245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Pentagone 19"/>
          <p:cNvSpPr/>
          <p:nvPr/>
        </p:nvSpPr>
        <p:spPr>
          <a:xfrm>
            <a:off x="8159279" y="239913"/>
            <a:ext cx="102968" cy="119062"/>
          </a:xfrm>
          <a:prstGeom prst="homePlat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>
              <a:solidFill>
                <a:schemeClr val="accent2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ZoneTexte 20"/>
          <p:cNvSpPr txBox="1"/>
          <p:nvPr/>
        </p:nvSpPr>
        <p:spPr>
          <a:xfrm>
            <a:off x="2278883" y="114778"/>
            <a:ext cx="2725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Rappel du contexte</a:t>
            </a:r>
            <a:endParaRPr lang="fr-FR" b="1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Arrondir un rectangle avec un coin diagonal 21"/>
          <p:cNvSpPr/>
          <p:nvPr/>
        </p:nvSpPr>
        <p:spPr>
          <a:xfrm>
            <a:off x="5599309" y="241182"/>
            <a:ext cx="99717" cy="119062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 b="1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3" name="ZoneTexte 22"/>
          <p:cNvSpPr txBox="1"/>
          <p:nvPr/>
        </p:nvSpPr>
        <p:spPr>
          <a:xfrm>
            <a:off x="5691505" y="122153"/>
            <a:ext cx="178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Fonctionnel</a:t>
            </a:r>
            <a:endParaRPr lang="fr-FR" b="1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4" name="ZoneTexte 23"/>
          <p:cNvSpPr txBox="1"/>
          <p:nvPr/>
        </p:nvSpPr>
        <p:spPr>
          <a:xfrm>
            <a:off x="8243955" y="119616"/>
            <a:ext cx="1669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177800" algn="l"/>
              </a:tabLst>
            </a:pPr>
            <a:r>
              <a:rPr lang="fr-FR" b="1" dirty="0" smtClean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Technique</a:t>
            </a:r>
            <a:endParaRPr lang="fr-FR" b="1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Arrondir un rectangle avec un coin diagonal 24"/>
          <p:cNvSpPr/>
          <p:nvPr/>
        </p:nvSpPr>
        <p:spPr>
          <a:xfrm>
            <a:off x="2188269" y="241182"/>
            <a:ext cx="99717" cy="119062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 b="1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2124709" y="3034408"/>
            <a:ext cx="357431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 smtClean="0"/>
              <a:t>Diagramme de classe</a:t>
            </a:r>
            <a:endParaRPr lang="fr-FR" sz="2400" dirty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4290" y="2155354"/>
            <a:ext cx="4234754" cy="439259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124709" y="3591468"/>
            <a:ext cx="23879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/>
              <a:t>BD </a:t>
            </a:r>
            <a:r>
              <a:rPr lang="fr-FR" sz="2400" dirty="0" smtClean="0"/>
              <a:t>PostgreSQL</a:t>
            </a:r>
            <a:endParaRPr lang="fr-FR" sz="2400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356" y="4087997"/>
            <a:ext cx="4922735" cy="277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440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118"/>
    </mc:Choice>
    <mc:Fallback xmlns="">
      <p:transition spd="slow" advTm="3511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1"/>
            <a:ext cx="12192000" cy="6245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Pentagone 10"/>
          <p:cNvSpPr/>
          <p:nvPr/>
        </p:nvSpPr>
        <p:spPr>
          <a:xfrm>
            <a:off x="8159279" y="239913"/>
            <a:ext cx="102968" cy="119062"/>
          </a:xfrm>
          <a:prstGeom prst="homePlat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>
              <a:solidFill>
                <a:schemeClr val="accent2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2278883" y="114778"/>
            <a:ext cx="2725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Rappel du contexte</a:t>
            </a:r>
            <a:endParaRPr lang="fr-FR" b="1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Arrondir un rectangle avec un coin diagonal 12"/>
          <p:cNvSpPr/>
          <p:nvPr/>
        </p:nvSpPr>
        <p:spPr>
          <a:xfrm>
            <a:off x="5599309" y="241182"/>
            <a:ext cx="99717" cy="119062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 b="1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5691505" y="122153"/>
            <a:ext cx="178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Fonctionnel</a:t>
            </a:r>
            <a:endParaRPr lang="fr-FR" b="1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ZoneTexte 14"/>
          <p:cNvSpPr txBox="1"/>
          <p:nvPr/>
        </p:nvSpPr>
        <p:spPr>
          <a:xfrm>
            <a:off x="8243955" y="119616"/>
            <a:ext cx="1669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177800" algn="l"/>
              </a:tabLst>
            </a:pPr>
            <a:r>
              <a:rPr lang="fr-FR" b="1" dirty="0" smtClean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Technique</a:t>
            </a:r>
            <a:endParaRPr lang="fr-FR" b="1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Arrondir un rectangle avec un coin diagonal 15"/>
          <p:cNvSpPr/>
          <p:nvPr/>
        </p:nvSpPr>
        <p:spPr>
          <a:xfrm>
            <a:off x="2188269" y="241182"/>
            <a:ext cx="99717" cy="119062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 b="1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9" name="Imag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446" y="749668"/>
            <a:ext cx="992305" cy="992305"/>
          </a:xfrm>
          <a:prstGeom prst="rect">
            <a:avLst/>
          </a:prstGeom>
        </p:spPr>
      </p:pic>
      <p:pic>
        <p:nvPicPr>
          <p:cNvPr id="20" name="Image 1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8249" y="813971"/>
            <a:ext cx="928986" cy="928001"/>
          </a:xfrm>
          <a:prstGeom prst="rect">
            <a:avLst/>
          </a:prstGeom>
        </p:spPr>
      </p:pic>
      <p:sp>
        <p:nvSpPr>
          <p:cNvPr id="22" name="ZoneTexte 21"/>
          <p:cNvSpPr txBox="1"/>
          <p:nvPr/>
        </p:nvSpPr>
        <p:spPr>
          <a:xfrm>
            <a:off x="1584356" y="765587"/>
            <a:ext cx="90232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dirty="0" smtClean="0">
                <a:latin typeface="Bebas Neue" panose="020B0606020202050201" pitchFamily="34" charset="0"/>
              </a:rPr>
              <a:t>Architecture De déploiement</a:t>
            </a:r>
            <a:endParaRPr lang="fr-FR" sz="4800" dirty="0">
              <a:latin typeface="Bebas Neue" panose="020B0606020202050201" pitchFamily="34" charset="0"/>
            </a:endParaRPr>
          </a:p>
        </p:txBody>
      </p:sp>
      <p:sp>
        <p:nvSpPr>
          <p:cNvPr id="17" name="Organigramme : Processus 16"/>
          <p:cNvSpPr/>
          <p:nvPr/>
        </p:nvSpPr>
        <p:spPr>
          <a:xfrm>
            <a:off x="3641646" y="2872114"/>
            <a:ext cx="6801096" cy="2781615"/>
          </a:xfrm>
          <a:prstGeom prst="flowChartProces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Nuage 17"/>
          <p:cNvSpPr/>
          <p:nvPr/>
        </p:nvSpPr>
        <p:spPr>
          <a:xfrm>
            <a:off x="9166364" y="2553930"/>
            <a:ext cx="1682523" cy="1001721"/>
          </a:xfrm>
          <a:prstGeom prst="cloud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 smtClean="0"/>
              <a:t>HEROKU</a:t>
            </a:r>
            <a:endParaRPr lang="fr-FR" sz="2000" dirty="0"/>
          </a:p>
        </p:txBody>
      </p:sp>
      <p:sp>
        <p:nvSpPr>
          <p:cNvPr id="21" name="Cylindre 20"/>
          <p:cNvSpPr/>
          <p:nvPr/>
        </p:nvSpPr>
        <p:spPr>
          <a:xfrm>
            <a:off x="8881951" y="3679057"/>
            <a:ext cx="1455850" cy="1019861"/>
          </a:xfrm>
          <a:prstGeom prst="can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 smtClean="0">
                <a:solidFill>
                  <a:schemeClr val="tx1"/>
                </a:solidFill>
              </a:rPr>
              <a:t>&lt;&lt;DATABASE&gt;&gt;</a:t>
            </a:r>
          </a:p>
          <a:p>
            <a:pPr algn="ctr"/>
            <a:r>
              <a:rPr lang="fr-FR" sz="1600" dirty="0" smtClean="0">
                <a:solidFill>
                  <a:schemeClr val="tx1"/>
                </a:solidFill>
              </a:rPr>
              <a:t>PostgreSQL</a:t>
            </a:r>
            <a:endParaRPr lang="fr-FR" sz="1600" dirty="0">
              <a:solidFill>
                <a:schemeClr val="tx1"/>
              </a:solidFill>
            </a:endParaRPr>
          </a:p>
        </p:txBody>
      </p:sp>
      <p:sp>
        <p:nvSpPr>
          <p:cNvPr id="23" name="Organigramme : Processus 22"/>
          <p:cNvSpPr/>
          <p:nvPr/>
        </p:nvSpPr>
        <p:spPr>
          <a:xfrm>
            <a:off x="6625654" y="3752430"/>
            <a:ext cx="1533625" cy="859114"/>
          </a:xfrm>
          <a:prstGeom prst="flowChartProcess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 smtClean="0">
                <a:solidFill>
                  <a:schemeClr val="tx1"/>
                </a:solidFill>
              </a:rPr>
              <a:t>Application </a:t>
            </a:r>
            <a:r>
              <a:rPr lang="fr-FR" sz="1600" dirty="0" err="1" smtClean="0">
                <a:solidFill>
                  <a:schemeClr val="tx1"/>
                </a:solidFill>
              </a:rPr>
              <a:t>core</a:t>
            </a:r>
            <a:endParaRPr lang="fr-FR" sz="1600" dirty="0">
              <a:solidFill>
                <a:schemeClr val="tx1"/>
              </a:solidFill>
            </a:endParaRPr>
          </a:p>
        </p:txBody>
      </p:sp>
      <p:sp>
        <p:nvSpPr>
          <p:cNvPr id="24" name="Organigramme : Processus 23"/>
          <p:cNvSpPr/>
          <p:nvPr/>
        </p:nvSpPr>
        <p:spPr>
          <a:xfrm>
            <a:off x="4395871" y="2970110"/>
            <a:ext cx="1533625" cy="859114"/>
          </a:xfrm>
          <a:prstGeom prst="flowChartProcess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 smtClean="0">
                <a:solidFill>
                  <a:schemeClr val="tx1"/>
                </a:solidFill>
              </a:rPr>
              <a:t>&lt;&lt;interface&gt;&gt;</a:t>
            </a:r>
          </a:p>
          <a:p>
            <a:pPr algn="ctr"/>
            <a:r>
              <a:rPr lang="fr-FR" sz="1600" dirty="0" smtClean="0">
                <a:solidFill>
                  <a:schemeClr val="tx1"/>
                </a:solidFill>
              </a:rPr>
              <a:t>Back interface</a:t>
            </a:r>
          </a:p>
        </p:txBody>
      </p:sp>
      <p:sp>
        <p:nvSpPr>
          <p:cNvPr id="25" name="Organigramme : Processus 24"/>
          <p:cNvSpPr/>
          <p:nvPr/>
        </p:nvSpPr>
        <p:spPr>
          <a:xfrm>
            <a:off x="4395871" y="4583864"/>
            <a:ext cx="1533625" cy="859114"/>
          </a:xfrm>
          <a:prstGeom prst="flowChartProcess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 smtClean="0">
                <a:solidFill>
                  <a:schemeClr val="tx1"/>
                </a:solidFill>
              </a:rPr>
              <a:t>&lt;&lt;interface&gt;&gt;</a:t>
            </a:r>
          </a:p>
          <a:p>
            <a:pPr algn="ctr"/>
            <a:r>
              <a:rPr lang="fr-FR" sz="1600" dirty="0" smtClean="0">
                <a:solidFill>
                  <a:schemeClr val="tx1"/>
                </a:solidFill>
              </a:rPr>
              <a:t>Front interface</a:t>
            </a:r>
          </a:p>
        </p:txBody>
      </p:sp>
      <p:cxnSp>
        <p:nvCxnSpPr>
          <p:cNvPr id="26" name="Connecteur droit avec flèche 25"/>
          <p:cNvCxnSpPr>
            <a:stCxn id="23" idx="3"/>
            <a:endCxn id="21" idx="2"/>
          </p:cNvCxnSpPr>
          <p:nvPr/>
        </p:nvCxnSpPr>
        <p:spPr>
          <a:xfrm>
            <a:off x="8159279" y="4181987"/>
            <a:ext cx="722672" cy="7001"/>
          </a:xfrm>
          <a:prstGeom prst="straightConnector1">
            <a:avLst/>
          </a:prstGeom>
          <a:ln w="28575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en angle 26"/>
          <p:cNvCxnSpPr>
            <a:stCxn id="24" idx="3"/>
          </p:cNvCxnSpPr>
          <p:nvPr/>
        </p:nvCxnSpPr>
        <p:spPr>
          <a:xfrm>
            <a:off x="5929496" y="3399667"/>
            <a:ext cx="754225" cy="429557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en angle 27"/>
          <p:cNvCxnSpPr>
            <a:stCxn id="25" idx="3"/>
          </p:cNvCxnSpPr>
          <p:nvPr/>
        </p:nvCxnSpPr>
        <p:spPr>
          <a:xfrm flipV="1">
            <a:off x="5929496" y="4583864"/>
            <a:ext cx="754225" cy="429557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Image 3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4480" y="1484680"/>
            <a:ext cx="548786" cy="700273"/>
          </a:xfrm>
          <a:prstGeom prst="rect">
            <a:avLst/>
          </a:prstGeom>
        </p:spPr>
      </p:pic>
      <p:pic>
        <p:nvPicPr>
          <p:cNvPr id="41" name="Image 4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56" y="2013251"/>
            <a:ext cx="548786" cy="700273"/>
          </a:xfrm>
          <a:prstGeom prst="rect">
            <a:avLst/>
          </a:prstGeom>
        </p:spPr>
      </p:pic>
      <p:pic>
        <p:nvPicPr>
          <p:cNvPr id="42" name="Image 4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56" y="3066254"/>
            <a:ext cx="548786" cy="700273"/>
          </a:xfrm>
          <a:prstGeom prst="rect">
            <a:avLst/>
          </a:prstGeom>
        </p:spPr>
      </p:pic>
      <p:pic>
        <p:nvPicPr>
          <p:cNvPr id="43" name="Image 4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56" y="4119258"/>
            <a:ext cx="548786" cy="700273"/>
          </a:xfrm>
          <a:prstGeom prst="rect">
            <a:avLst/>
          </a:prstGeom>
        </p:spPr>
      </p:pic>
      <p:pic>
        <p:nvPicPr>
          <p:cNvPr id="44" name="Image 4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56" y="5172262"/>
            <a:ext cx="548786" cy="700273"/>
          </a:xfrm>
          <a:prstGeom prst="rect">
            <a:avLst/>
          </a:prstGeom>
        </p:spPr>
      </p:pic>
      <p:sp>
        <p:nvSpPr>
          <p:cNvPr id="45" name="Organigramme : Processus 44"/>
          <p:cNvSpPr/>
          <p:nvPr/>
        </p:nvSpPr>
        <p:spPr>
          <a:xfrm>
            <a:off x="1343752" y="2071501"/>
            <a:ext cx="1382516" cy="561632"/>
          </a:xfrm>
          <a:prstGeom prst="flowChartProcess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 smtClean="0">
                <a:solidFill>
                  <a:schemeClr val="tx1"/>
                </a:solidFill>
              </a:rPr>
              <a:t>Web browser</a:t>
            </a:r>
            <a:endParaRPr lang="fr-FR" sz="1600" dirty="0">
              <a:solidFill>
                <a:schemeClr val="tx1"/>
              </a:solidFill>
            </a:endParaRPr>
          </a:p>
        </p:txBody>
      </p:sp>
      <p:sp>
        <p:nvSpPr>
          <p:cNvPr id="46" name="Organigramme : Processus 45"/>
          <p:cNvSpPr/>
          <p:nvPr/>
        </p:nvSpPr>
        <p:spPr>
          <a:xfrm>
            <a:off x="1343752" y="3118851"/>
            <a:ext cx="1382516" cy="561632"/>
          </a:xfrm>
          <a:prstGeom prst="flowChartProcess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 smtClean="0">
                <a:solidFill>
                  <a:schemeClr val="tx1"/>
                </a:solidFill>
              </a:rPr>
              <a:t>Web browser</a:t>
            </a:r>
            <a:endParaRPr lang="fr-FR" sz="1600" dirty="0">
              <a:solidFill>
                <a:schemeClr val="tx1"/>
              </a:solidFill>
            </a:endParaRPr>
          </a:p>
        </p:txBody>
      </p:sp>
      <p:sp>
        <p:nvSpPr>
          <p:cNvPr id="47" name="Organigramme : Processus 46"/>
          <p:cNvSpPr/>
          <p:nvPr/>
        </p:nvSpPr>
        <p:spPr>
          <a:xfrm>
            <a:off x="1343752" y="4179699"/>
            <a:ext cx="1382516" cy="561632"/>
          </a:xfrm>
          <a:prstGeom prst="flowChartProcess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 smtClean="0">
                <a:solidFill>
                  <a:schemeClr val="tx1"/>
                </a:solidFill>
              </a:rPr>
              <a:t>Web browser</a:t>
            </a:r>
            <a:endParaRPr lang="fr-FR" sz="1600" dirty="0">
              <a:solidFill>
                <a:schemeClr val="tx1"/>
              </a:solidFill>
            </a:endParaRPr>
          </a:p>
        </p:txBody>
      </p:sp>
      <p:sp>
        <p:nvSpPr>
          <p:cNvPr id="48" name="Organigramme : Processus 47"/>
          <p:cNvSpPr/>
          <p:nvPr/>
        </p:nvSpPr>
        <p:spPr>
          <a:xfrm>
            <a:off x="1343752" y="5310903"/>
            <a:ext cx="1382516" cy="561632"/>
          </a:xfrm>
          <a:prstGeom prst="flowChartProcess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 smtClean="0">
                <a:solidFill>
                  <a:schemeClr val="tx1"/>
                </a:solidFill>
              </a:rPr>
              <a:t>Web browser</a:t>
            </a:r>
            <a:endParaRPr lang="fr-FR" sz="1600" dirty="0">
              <a:solidFill>
                <a:schemeClr val="tx1"/>
              </a:solidFill>
            </a:endParaRPr>
          </a:p>
        </p:txBody>
      </p:sp>
      <p:pic>
        <p:nvPicPr>
          <p:cNvPr id="50" name="Image 4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643" y="4601478"/>
            <a:ext cx="654072" cy="527283"/>
          </a:xfrm>
          <a:prstGeom prst="rect">
            <a:avLst/>
          </a:prstGeom>
        </p:spPr>
      </p:pic>
      <p:pic>
        <p:nvPicPr>
          <p:cNvPr id="51" name="Image 5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607" y="3395241"/>
            <a:ext cx="322335" cy="544635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52" name="Image 5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079515" y="2379822"/>
            <a:ext cx="337857" cy="524672"/>
          </a:xfrm>
          <a:prstGeom prst="rect">
            <a:avLst/>
          </a:prstGeom>
          <a:solidFill>
            <a:schemeClr val="bg1"/>
          </a:solidFill>
        </p:spPr>
      </p:pic>
      <p:cxnSp>
        <p:nvCxnSpPr>
          <p:cNvPr id="54" name="Connecteur en angle 53"/>
          <p:cNvCxnSpPr>
            <a:stCxn id="48" idx="3"/>
            <a:endCxn id="25" idx="1"/>
          </p:cNvCxnSpPr>
          <p:nvPr/>
        </p:nvCxnSpPr>
        <p:spPr>
          <a:xfrm flipV="1">
            <a:off x="2726268" y="5013421"/>
            <a:ext cx="1669603" cy="578298"/>
          </a:xfrm>
          <a:prstGeom prst="bentConnector3">
            <a:avLst>
              <a:gd name="adj1" fmla="val 40872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ZoneTexte 55"/>
          <p:cNvSpPr txBox="1"/>
          <p:nvPr/>
        </p:nvSpPr>
        <p:spPr>
          <a:xfrm>
            <a:off x="2686189" y="4142397"/>
            <a:ext cx="780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HTTPS</a:t>
            </a:r>
            <a:endParaRPr lang="fr-FR" dirty="0"/>
          </a:p>
        </p:txBody>
      </p:sp>
      <p:cxnSp>
        <p:nvCxnSpPr>
          <p:cNvPr id="58" name="Connecteur en angle 57"/>
          <p:cNvCxnSpPr>
            <a:stCxn id="47" idx="3"/>
          </p:cNvCxnSpPr>
          <p:nvPr/>
        </p:nvCxnSpPr>
        <p:spPr>
          <a:xfrm flipV="1">
            <a:off x="2726268" y="3760120"/>
            <a:ext cx="1699383" cy="700395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ZoneTexte 59"/>
          <p:cNvSpPr txBox="1"/>
          <p:nvPr/>
        </p:nvSpPr>
        <p:spPr>
          <a:xfrm>
            <a:off x="2686189" y="5285358"/>
            <a:ext cx="780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HTTPS</a:t>
            </a:r>
            <a:endParaRPr lang="fr-FR" dirty="0"/>
          </a:p>
        </p:txBody>
      </p:sp>
      <p:cxnSp>
        <p:nvCxnSpPr>
          <p:cNvPr id="64" name="Connecteur droit avec flèche 63"/>
          <p:cNvCxnSpPr>
            <a:stCxn id="46" idx="3"/>
            <a:endCxn id="24" idx="1"/>
          </p:cNvCxnSpPr>
          <p:nvPr/>
        </p:nvCxnSpPr>
        <p:spPr>
          <a:xfrm>
            <a:off x="2726268" y="3399667"/>
            <a:ext cx="166960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eur en angle 65"/>
          <p:cNvCxnSpPr>
            <a:stCxn id="45" idx="3"/>
            <a:endCxn id="24" idx="0"/>
          </p:cNvCxnSpPr>
          <p:nvPr/>
        </p:nvCxnSpPr>
        <p:spPr>
          <a:xfrm>
            <a:off x="2726268" y="2352317"/>
            <a:ext cx="2436416" cy="617793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ZoneTexte 66"/>
          <p:cNvSpPr txBox="1"/>
          <p:nvPr/>
        </p:nvSpPr>
        <p:spPr>
          <a:xfrm>
            <a:off x="2686189" y="3099994"/>
            <a:ext cx="780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HTTPS</a:t>
            </a:r>
            <a:endParaRPr lang="fr-FR" dirty="0"/>
          </a:p>
        </p:txBody>
      </p:sp>
      <p:sp>
        <p:nvSpPr>
          <p:cNvPr id="68" name="ZoneTexte 67"/>
          <p:cNvSpPr txBox="1"/>
          <p:nvPr/>
        </p:nvSpPr>
        <p:spPr>
          <a:xfrm>
            <a:off x="2686189" y="2016163"/>
            <a:ext cx="780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HTTPS</a:t>
            </a:r>
            <a:endParaRPr lang="fr-FR" dirty="0"/>
          </a:p>
        </p:txBody>
      </p:sp>
      <p:sp>
        <p:nvSpPr>
          <p:cNvPr id="70" name="Organigramme : Processus 69"/>
          <p:cNvSpPr/>
          <p:nvPr/>
        </p:nvSpPr>
        <p:spPr>
          <a:xfrm>
            <a:off x="8306686" y="1822867"/>
            <a:ext cx="1063500" cy="442266"/>
          </a:xfrm>
          <a:prstGeom prst="flowChartProcess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 smtClean="0">
                <a:solidFill>
                  <a:schemeClr val="tx1"/>
                </a:solidFill>
              </a:rPr>
              <a:t>Git</a:t>
            </a:r>
            <a:endParaRPr lang="fr-FR" sz="1600" dirty="0">
              <a:solidFill>
                <a:schemeClr val="tx1"/>
              </a:solidFill>
            </a:endParaRPr>
          </a:p>
        </p:txBody>
      </p:sp>
      <p:pic>
        <p:nvPicPr>
          <p:cNvPr id="69" name="Image 6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6919" y="1558092"/>
            <a:ext cx="654072" cy="527283"/>
          </a:xfrm>
          <a:prstGeom prst="rect">
            <a:avLst/>
          </a:prstGeom>
        </p:spPr>
      </p:pic>
      <p:cxnSp>
        <p:nvCxnSpPr>
          <p:cNvPr id="72" name="Connecteur en angle 71"/>
          <p:cNvCxnSpPr>
            <a:stCxn id="70" idx="2"/>
            <a:endCxn id="23" idx="0"/>
          </p:cNvCxnSpPr>
          <p:nvPr/>
        </p:nvCxnSpPr>
        <p:spPr>
          <a:xfrm rot="5400000">
            <a:off x="7371804" y="2285797"/>
            <a:ext cx="1487297" cy="1445969"/>
          </a:xfrm>
          <a:prstGeom prst="bentConnector3">
            <a:avLst>
              <a:gd name="adj1" fmla="val 24383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ZoneTexte 73"/>
          <p:cNvSpPr txBox="1"/>
          <p:nvPr/>
        </p:nvSpPr>
        <p:spPr>
          <a:xfrm>
            <a:off x="7441782" y="2330114"/>
            <a:ext cx="540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SSH</a:t>
            </a:r>
            <a:endParaRPr lang="fr-FR" dirty="0"/>
          </a:p>
        </p:txBody>
      </p:sp>
      <p:sp>
        <p:nvSpPr>
          <p:cNvPr id="75" name="ZoneTexte 74"/>
          <p:cNvSpPr txBox="1"/>
          <p:nvPr/>
        </p:nvSpPr>
        <p:spPr>
          <a:xfrm>
            <a:off x="9699820" y="1913598"/>
            <a:ext cx="584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 smtClean="0"/>
              <a:t>Dév</a:t>
            </a:r>
            <a:r>
              <a:rPr lang="fr-FR" dirty="0"/>
              <a:t>.</a:t>
            </a:r>
            <a:endParaRPr lang="fr-FR" dirty="0" smtClean="0"/>
          </a:p>
        </p:txBody>
      </p:sp>
      <p:sp>
        <p:nvSpPr>
          <p:cNvPr id="76" name="ZoneTexte 75"/>
          <p:cNvSpPr txBox="1"/>
          <p:nvPr/>
        </p:nvSpPr>
        <p:spPr>
          <a:xfrm>
            <a:off x="183936" y="2667288"/>
            <a:ext cx="9058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smtClean="0"/>
              <a:t>Pizzaiolo</a:t>
            </a:r>
            <a:endParaRPr lang="fr-FR" sz="1600" dirty="0"/>
          </a:p>
        </p:txBody>
      </p:sp>
      <p:sp>
        <p:nvSpPr>
          <p:cNvPr id="77" name="ZoneTexte 76"/>
          <p:cNvSpPr txBox="1"/>
          <p:nvPr/>
        </p:nvSpPr>
        <p:spPr>
          <a:xfrm>
            <a:off x="183936" y="3709106"/>
            <a:ext cx="8665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smtClean="0"/>
              <a:t>Delivery</a:t>
            </a:r>
            <a:endParaRPr lang="fr-FR" sz="1600" dirty="0"/>
          </a:p>
        </p:txBody>
      </p:sp>
      <p:sp>
        <p:nvSpPr>
          <p:cNvPr id="78" name="ZoneTexte 77"/>
          <p:cNvSpPr txBox="1"/>
          <p:nvPr/>
        </p:nvSpPr>
        <p:spPr>
          <a:xfrm>
            <a:off x="133537" y="4789163"/>
            <a:ext cx="10066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err="1" smtClean="0"/>
              <a:t>Employee</a:t>
            </a:r>
            <a:endParaRPr lang="fr-FR" sz="1600" dirty="0"/>
          </a:p>
        </p:txBody>
      </p:sp>
      <p:sp>
        <p:nvSpPr>
          <p:cNvPr id="79" name="ZoneTexte 78"/>
          <p:cNvSpPr txBox="1"/>
          <p:nvPr/>
        </p:nvSpPr>
        <p:spPr>
          <a:xfrm>
            <a:off x="271090" y="5869220"/>
            <a:ext cx="6636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smtClean="0"/>
              <a:t>Client</a:t>
            </a:r>
            <a:endParaRPr lang="fr-FR" sz="1600" dirty="0"/>
          </a:p>
        </p:txBody>
      </p:sp>
      <p:cxnSp>
        <p:nvCxnSpPr>
          <p:cNvPr id="81" name="Connecteur droit avec flèche 80"/>
          <p:cNvCxnSpPr>
            <a:endCxn id="23" idx="2"/>
          </p:cNvCxnSpPr>
          <p:nvPr/>
        </p:nvCxnSpPr>
        <p:spPr>
          <a:xfrm flipV="1">
            <a:off x="7392466" y="4611544"/>
            <a:ext cx="1" cy="1428717"/>
          </a:xfrm>
          <a:prstGeom prst="straightConnector1">
            <a:avLst/>
          </a:prstGeom>
          <a:ln w="28575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ZoneTexte 81"/>
          <p:cNvSpPr txBox="1"/>
          <p:nvPr/>
        </p:nvSpPr>
        <p:spPr>
          <a:xfrm>
            <a:off x="7441781" y="5680390"/>
            <a:ext cx="998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REST API</a:t>
            </a:r>
            <a:endParaRPr lang="fr-FR" dirty="0"/>
          </a:p>
        </p:txBody>
      </p:sp>
      <p:sp>
        <p:nvSpPr>
          <p:cNvPr id="53" name="Organigramme : Processus 52"/>
          <p:cNvSpPr/>
          <p:nvPr/>
        </p:nvSpPr>
        <p:spPr>
          <a:xfrm>
            <a:off x="4178064" y="6025008"/>
            <a:ext cx="1828800" cy="592682"/>
          </a:xfrm>
          <a:prstGeom prst="flowChartProcess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 smtClean="0">
                <a:solidFill>
                  <a:schemeClr val="tx1"/>
                </a:solidFill>
              </a:rPr>
              <a:t>&lt;&lt;</a:t>
            </a:r>
            <a:r>
              <a:rPr lang="fr-FR" sz="1400" dirty="0" err="1" smtClean="0">
                <a:solidFill>
                  <a:schemeClr val="tx1"/>
                </a:solidFill>
              </a:rPr>
              <a:t>external</a:t>
            </a:r>
            <a:r>
              <a:rPr lang="fr-FR" sz="1400" dirty="0" smtClean="0">
                <a:solidFill>
                  <a:schemeClr val="tx1"/>
                </a:solidFill>
              </a:rPr>
              <a:t> system&gt;&gt;</a:t>
            </a:r>
          </a:p>
          <a:p>
            <a:pPr algn="ctr"/>
            <a:r>
              <a:rPr lang="fr-FR" dirty="0" smtClean="0">
                <a:solidFill>
                  <a:schemeClr val="tx1"/>
                </a:solidFill>
              </a:rPr>
              <a:t>Google </a:t>
            </a:r>
            <a:r>
              <a:rPr lang="fr-FR" dirty="0" err="1" smtClean="0">
                <a:solidFill>
                  <a:schemeClr val="tx1"/>
                </a:solidFill>
              </a:rPr>
              <a:t>Maps</a:t>
            </a:r>
            <a:endParaRPr lang="fr-FR" dirty="0" smtClean="0">
              <a:solidFill>
                <a:schemeClr val="tx1"/>
              </a:solidFill>
            </a:endParaRPr>
          </a:p>
        </p:txBody>
      </p:sp>
      <p:sp>
        <p:nvSpPr>
          <p:cNvPr id="55" name="Organigramme : Processus 54"/>
          <p:cNvSpPr/>
          <p:nvPr/>
        </p:nvSpPr>
        <p:spPr>
          <a:xfrm>
            <a:off x="8652246" y="6025008"/>
            <a:ext cx="1828800" cy="592682"/>
          </a:xfrm>
          <a:prstGeom prst="flowChartProcess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 smtClean="0">
                <a:solidFill>
                  <a:schemeClr val="tx1"/>
                </a:solidFill>
              </a:rPr>
              <a:t>&lt;&lt;</a:t>
            </a:r>
            <a:r>
              <a:rPr lang="fr-FR" sz="1400" dirty="0" err="1" smtClean="0">
                <a:solidFill>
                  <a:schemeClr val="tx1"/>
                </a:solidFill>
              </a:rPr>
              <a:t>external</a:t>
            </a:r>
            <a:r>
              <a:rPr lang="fr-FR" sz="1400" dirty="0" smtClean="0">
                <a:solidFill>
                  <a:schemeClr val="tx1"/>
                </a:solidFill>
              </a:rPr>
              <a:t> system&gt;&gt;</a:t>
            </a:r>
          </a:p>
          <a:p>
            <a:pPr algn="ctr"/>
            <a:r>
              <a:rPr lang="fr-FR" dirty="0" err="1" smtClean="0">
                <a:solidFill>
                  <a:schemeClr val="tx1"/>
                </a:solidFill>
              </a:rPr>
              <a:t>Stripe</a:t>
            </a:r>
            <a:endParaRPr lang="fr-FR" sz="1400" dirty="0" smtClean="0">
              <a:solidFill>
                <a:schemeClr val="tx1"/>
              </a:solidFill>
            </a:endParaRPr>
          </a:p>
        </p:txBody>
      </p:sp>
      <p:sp>
        <p:nvSpPr>
          <p:cNvPr id="57" name="Organigramme : Processus 56"/>
          <p:cNvSpPr/>
          <p:nvPr/>
        </p:nvSpPr>
        <p:spPr>
          <a:xfrm>
            <a:off x="6415155" y="6025008"/>
            <a:ext cx="1828800" cy="592682"/>
          </a:xfrm>
          <a:prstGeom prst="flowChartProcess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 smtClean="0">
                <a:solidFill>
                  <a:schemeClr val="tx1"/>
                </a:solidFill>
              </a:rPr>
              <a:t>&lt;&lt;</a:t>
            </a:r>
            <a:r>
              <a:rPr lang="fr-FR" sz="1400" dirty="0" err="1" smtClean="0">
                <a:solidFill>
                  <a:schemeClr val="tx1"/>
                </a:solidFill>
              </a:rPr>
              <a:t>external</a:t>
            </a:r>
            <a:r>
              <a:rPr lang="fr-FR" sz="1400" dirty="0" smtClean="0">
                <a:solidFill>
                  <a:schemeClr val="tx1"/>
                </a:solidFill>
              </a:rPr>
              <a:t> system&gt;&gt;</a:t>
            </a:r>
          </a:p>
          <a:p>
            <a:pPr algn="ctr"/>
            <a:r>
              <a:rPr lang="fr-FR" dirty="0" err="1" smtClean="0">
                <a:solidFill>
                  <a:schemeClr val="tx1"/>
                </a:solidFill>
              </a:rPr>
              <a:t>Twilio</a:t>
            </a:r>
            <a:endParaRPr lang="fr-FR" sz="1400" dirty="0" smtClean="0">
              <a:solidFill>
                <a:schemeClr val="tx1"/>
              </a:solidFill>
            </a:endParaRPr>
          </a:p>
        </p:txBody>
      </p:sp>
      <p:cxnSp>
        <p:nvCxnSpPr>
          <p:cNvPr id="3" name="Connecteur en angle 2"/>
          <p:cNvCxnSpPr/>
          <p:nvPr/>
        </p:nvCxnSpPr>
        <p:spPr>
          <a:xfrm rot="16200000" flipV="1">
            <a:off x="7590579" y="4748888"/>
            <a:ext cx="1438783" cy="1143963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en angle 5"/>
          <p:cNvCxnSpPr/>
          <p:nvPr/>
        </p:nvCxnSpPr>
        <p:spPr>
          <a:xfrm rot="5400000" flipH="1" flipV="1">
            <a:off x="5764143" y="4833334"/>
            <a:ext cx="1428717" cy="985139"/>
          </a:xfrm>
          <a:prstGeom prst="bentConnector3">
            <a:avLst>
              <a:gd name="adj1" fmla="val 35548"/>
            </a:avLst>
          </a:prstGeom>
          <a:ln w="28575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ZoneTexte 62"/>
          <p:cNvSpPr txBox="1"/>
          <p:nvPr/>
        </p:nvSpPr>
        <p:spPr>
          <a:xfrm>
            <a:off x="5969599" y="5680390"/>
            <a:ext cx="998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REST API</a:t>
            </a:r>
            <a:endParaRPr lang="fr-FR" dirty="0"/>
          </a:p>
        </p:txBody>
      </p:sp>
      <p:sp>
        <p:nvSpPr>
          <p:cNvPr id="65" name="ZoneTexte 64"/>
          <p:cNvSpPr txBox="1"/>
          <p:nvPr/>
        </p:nvSpPr>
        <p:spPr>
          <a:xfrm>
            <a:off x="8937870" y="5680390"/>
            <a:ext cx="998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REST API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19575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21" grpId="0" animBg="1"/>
      <p:bldP spid="23" grpId="0" animBg="1"/>
      <p:bldP spid="24" grpId="0" animBg="1"/>
      <p:bldP spid="25" grpId="0" animBg="1"/>
      <p:bldP spid="45" grpId="0" animBg="1"/>
      <p:bldP spid="46" grpId="0" animBg="1"/>
      <p:bldP spid="47" grpId="0" animBg="1"/>
      <p:bldP spid="48" grpId="0" animBg="1"/>
      <p:bldP spid="56" grpId="0"/>
      <p:bldP spid="60" grpId="0"/>
      <p:bldP spid="67" grpId="0"/>
      <p:bldP spid="68" grpId="0"/>
      <p:bldP spid="70" grpId="0" animBg="1"/>
      <p:bldP spid="74" grpId="0"/>
      <p:bldP spid="75" grpId="0"/>
      <p:bldP spid="76" grpId="0"/>
      <p:bldP spid="77" grpId="0"/>
      <p:bldP spid="78" grpId="0"/>
      <p:bldP spid="79" grpId="0"/>
      <p:bldP spid="82" grpId="0"/>
      <p:bldP spid="53" grpId="0" animBg="1"/>
      <p:bldP spid="55" grpId="0" animBg="1"/>
      <p:bldP spid="57" grpId="0" animBg="1"/>
      <p:bldP spid="63" grpId="0"/>
      <p:bldP spid="6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Organigramme : Processus 44"/>
          <p:cNvSpPr/>
          <p:nvPr/>
        </p:nvSpPr>
        <p:spPr>
          <a:xfrm>
            <a:off x="8324346" y="3217333"/>
            <a:ext cx="3569328" cy="3318934"/>
          </a:xfrm>
          <a:prstGeom prst="flowChartProcess">
            <a:avLst/>
          </a:prstGeom>
          <a:solidFill>
            <a:srgbClr val="00B0F0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>
              <a:solidFill>
                <a:schemeClr val="tx1"/>
              </a:solidFill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8672900" y="3384748"/>
            <a:ext cx="2966773" cy="2633253"/>
          </a:xfrm>
          <a:prstGeom prst="rect">
            <a:avLst/>
          </a:prstGeom>
          <a:solidFill>
            <a:srgbClr val="64C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Organigramme : Processus 46"/>
          <p:cNvSpPr/>
          <p:nvPr/>
        </p:nvSpPr>
        <p:spPr>
          <a:xfrm>
            <a:off x="6236972" y="3217334"/>
            <a:ext cx="1633687" cy="3318934"/>
          </a:xfrm>
          <a:prstGeom prst="flowChartProcess">
            <a:avLst/>
          </a:prstGeom>
          <a:solidFill>
            <a:srgbClr val="FFE697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>
              <a:solidFill>
                <a:schemeClr val="tx1"/>
              </a:solidFill>
            </a:endParaRPr>
          </a:p>
        </p:txBody>
      </p:sp>
      <p:sp>
        <p:nvSpPr>
          <p:cNvPr id="48" name="Organigramme : Processus 47"/>
          <p:cNvSpPr/>
          <p:nvPr/>
        </p:nvSpPr>
        <p:spPr>
          <a:xfrm>
            <a:off x="4135312" y="3217333"/>
            <a:ext cx="1633687" cy="3327661"/>
          </a:xfrm>
          <a:prstGeom prst="flowChartProcess">
            <a:avLst/>
          </a:prstGeom>
          <a:solidFill>
            <a:srgbClr val="FFE697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>
              <a:solidFill>
                <a:schemeClr val="tx1"/>
              </a:solidFill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8381986" y="6175662"/>
            <a:ext cx="8544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i="1" dirty="0" err="1" smtClean="0">
                <a:solidFill>
                  <a:schemeClr val="bg1"/>
                </a:solidFill>
              </a:rPr>
              <a:t>Heroku</a:t>
            </a:r>
            <a:endParaRPr lang="fr-FR" i="1" dirty="0">
              <a:solidFill>
                <a:schemeClr val="bg1"/>
              </a:solidFill>
            </a:endParaRPr>
          </a:p>
        </p:txBody>
      </p:sp>
      <p:sp>
        <p:nvSpPr>
          <p:cNvPr id="73" name="Organigramme : Processus 72"/>
          <p:cNvSpPr/>
          <p:nvPr/>
        </p:nvSpPr>
        <p:spPr>
          <a:xfrm>
            <a:off x="339239" y="3217333"/>
            <a:ext cx="3378200" cy="3318934"/>
          </a:xfrm>
          <a:prstGeom prst="flowChartProcess">
            <a:avLst/>
          </a:prstGeom>
          <a:solidFill>
            <a:srgbClr val="00B0F0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3238" y="3384748"/>
            <a:ext cx="2810933" cy="2633253"/>
          </a:xfrm>
          <a:prstGeom prst="rect">
            <a:avLst/>
          </a:prstGeom>
          <a:solidFill>
            <a:srgbClr val="A0CC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/>
          <p:cNvSpPr/>
          <p:nvPr/>
        </p:nvSpPr>
        <p:spPr>
          <a:xfrm>
            <a:off x="0" y="1"/>
            <a:ext cx="12192000" cy="6245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Pentagone 10"/>
          <p:cNvSpPr/>
          <p:nvPr/>
        </p:nvSpPr>
        <p:spPr>
          <a:xfrm>
            <a:off x="8159279" y="239913"/>
            <a:ext cx="102968" cy="119062"/>
          </a:xfrm>
          <a:prstGeom prst="homePlat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>
              <a:solidFill>
                <a:schemeClr val="accent2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2278883" y="114778"/>
            <a:ext cx="2725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Rappel du contexte</a:t>
            </a:r>
            <a:endParaRPr lang="fr-FR" b="1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Arrondir un rectangle avec un coin diagonal 12"/>
          <p:cNvSpPr/>
          <p:nvPr/>
        </p:nvSpPr>
        <p:spPr>
          <a:xfrm>
            <a:off x="5599309" y="241182"/>
            <a:ext cx="99717" cy="119062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 b="1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5691505" y="122153"/>
            <a:ext cx="178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Fonctionnel</a:t>
            </a:r>
            <a:endParaRPr lang="fr-FR" b="1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ZoneTexte 14"/>
          <p:cNvSpPr txBox="1"/>
          <p:nvPr/>
        </p:nvSpPr>
        <p:spPr>
          <a:xfrm>
            <a:off x="8243955" y="119616"/>
            <a:ext cx="1669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177800" algn="l"/>
              </a:tabLst>
            </a:pPr>
            <a:r>
              <a:rPr lang="fr-FR" b="1" dirty="0" smtClean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Technique</a:t>
            </a:r>
            <a:endParaRPr lang="fr-FR" b="1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Arrondir un rectangle avec un coin diagonal 15"/>
          <p:cNvSpPr/>
          <p:nvPr/>
        </p:nvSpPr>
        <p:spPr>
          <a:xfrm>
            <a:off x="2188269" y="241182"/>
            <a:ext cx="99717" cy="119062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 b="1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9" name="Imag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446" y="749668"/>
            <a:ext cx="992305" cy="992305"/>
          </a:xfrm>
          <a:prstGeom prst="rect">
            <a:avLst/>
          </a:prstGeom>
        </p:spPr>
      </p:pic>
      <p:pic>
        <p:nvPicPr>
          <p:cNvPr id="20" name="Image 1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8249" y="813971"/>
            <a:ext cx="928986" cy="928001"/>
          </a:xfrm>
          <a:prstGeom prst="rect">
            <a:avLst/>
          </a:prstGeom>
        </p:spPr>
      </p:pic>
      <p:sp>
        <p:nvSpPr>
          <p:cNvPr id="22" name="ZoneTexte 21"/>
          <p:cNvSpPr txBox="1"/>
          <p:nvPr/>
        </p:nvSpPr>
        <p:spPr>
          <a:xfrm>
            <a:off x="1584356" y="765587"/>
            <a:ext cx="90232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7200" dirty="0" smtClean="0">
                <a:latin typeface="Bebas Neue" panose="020B0606020202050201" pitchFamily="34" charset="0"/>
              </a:rPr>
              <a:t>Procédure de déploiement</a:t>
            </a:r>
            <a:endParaRPr lang="fr-FR" sz="7200" dirty="0">
              <a:latin typeface="Bebas Neue" panose="020B0606020202050201" pitchFamily="34" charset="0"/>
            </a:endParaRPr>
          </a:p>
        </p:txBody>
      </p:sp>
      <p:sp>
        <p:nvSpPr>
          <p:cNvPr id="59" name="ZoneTexte 58"/>
          <p:cNvSpPr txBox="1"/>
          <p:nvPr/>
        </p:nvSpPr>
        <p:spPr>
          <a:xfrm>
            <a:off x="1126778" y="3497560"/>
            <a:ext cx="18031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</a:rPr>
              <a:t>Requirements.txt</a:t>
            </a:r>
          </a:p>
        </p:txBody>
      </p:sp>
      <p:sp>
        <p:nvSpPr>
          <p:cNvPr id="61" name="ZoneTexte 60"/>
          <p:cNvSpPr txBox="1"/>
          <p:nvPr/>
        </p:nvSpPr>
        <p:spPr>
          <a:xfrm>
            <a:off x="1494784" y="3860505"/>
            <a:ext cx="1007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</a:rPr>
              <a:t>Setup.py</a:t>
            </a:r>
          </a:p>
        </p:txBody>
      </p:sp>
      <p:sp>
        <p:nvSpPr>
          <p:cNvPr id="62" name="Organigramme : Processus 61"/>
          <p:cNvSpPr/>
          <p:nvPr/>
        </p:nvSpPr>
        <p:spPr>
          <a:xfrm>
            <a:off x="1006586" y="4368798"/>
            <a:ext cx="1931986" cy="1107129"/>
          </a:xfrm>
          <a:prstGeom prst="flowChartProcess">
            <a:avLst/>
          </a:prstGeom>
          <a:solidFill>
            <a:srgbClr val="FF5050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974961" y="5093449"/>
            <a:ext cx="17081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i="1" dirty="0">
                <a:solidFill>
                  <a:schemeClr val="bg1"/>
                </a:solidFill>
              </a:rPr>
              <a:t>Application </a:t>
            </a:r>
            <a:r>
              <a:rPr lang="fr-FR" i="1" dirty="0" err="1">
                <a:solidFill>
                  <a:schemeClr val="bg1"/>
                </a:solidFill>
              </a:rPr>
              <a:t>core</a:t>
            </a:r>
            <a:endParaRPr lang="fr-FR" i="1" dirty="0">
              <a:solidFill>
                <a:schemeClr val="bg1"/>
              </a:solidFill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695680" y="5648670"/>
            <a:ext cx="156635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i="1" dirty="0" err="1" smtClean="0">
                <a:solidFill>
                  <a:schemeClr val="bg1"/>
                </a:solidFill>
              </a:rPr>
              <a:t>Worker</a:t>
            </a:r>
            <a:r>
              <a:rPr lang="fr-FR" i="1" dirty="0" smtClean="0">
                <a:solidFill>
                  <a:schemeClr val="bg1"/>
                </a:solidFill>
              </a:rPr>
              <a:t> </a:t>
            </a:r>
            <a:r>
              <a:rPr lang="fr-FR" i="1" dirty="0" err="1" smtClean="0">
                <a:solidFill>
                  <a:schemeClr val="bg1"/>
                </a:solidFill>
              </a:rPr>
              <a:t>Dyno</a:t>
            </a:r>
            <a:endParaRPr lang="fr-FR" i="1" dirty="0">
              <a:solidFill>
                <a:schemeClr val="bg1"/>
              </a:solidFill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381574" y="6175662"/>
            <a:ext cx="8544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i="1" dirty="0" err="1" smtClean="0">
                <a:solidFill>
                  <a:schemeClr val="bg1"/>
                </a:solidFill>
              </a:rPr>
              <a:t>Heroku</a:t>
            </a:r>
            <a:endParaRPr lang="fr-FR" i="1" dirty="0">
              <a:solidFill>
                <a:schemeClr val="bg1"/>
              </a:solidFill>
            </a:endParaRPr>
          </a:p>
        </p:txBody>
      </p:sp>
      <p:sp>
        <p:nvSpPr>
          <p:cNvPr id="31" name="ZoneTexte 30"/>
          <p:cNvSpPr txBox="1"/>
          <p:nvPr/>
        </p:nvSpPr>
        <p:spPr>
          <a:xfrm>
            <a:off x="6236972" y="3497560"/>
            <a:ext cx="16233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smtClean="0"/>
              <a:t>Requirements.txt</a:t>
            </a:r>
          </a:p>
        </p:txBody>
      </p:sp>
      <p:sp>
        <p:nvSpPr>
          <p:cNvPr id="32" name="ZoneTexte 31"/>
          <p:cNvSpPr txBox="1"/>
          <p:nvPr/>
        </p:nvSpPr>
        <p:spPr>
          <a:xfrm>
            <a:off x="6587794" y="3860505"/>
            <a:ext cx="8129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err="1" smtClean="0"/>
              <a:t>Procfile</a:t>
            </a:r>
            <a:endParaRPr lang="fr-FR" sz="1600" dirty="0" smtClean="0"/>
          </a:p>
        </p:txBody>
      </p:sp>
      <p:sp>
        <p:nvSpPr>
          <p:cNvPr id="33" name="Organigramme : Processus 32"/>
          <p:cNvSpPr/>
          <p:nvPr/>
        </p:nvSpPr>
        <p:spPr>
          <a:xfrm>
            <a:off x="9228769" y="4368798"/>
            <a:ext cx="2059176" cy="1107129"/>
          </a:xfrm>
          <a:prstGeom prst="flowChartProcess">
            <a:avLst/>
          </a:prstGeom>
          <a:solidFill>
            <a:schemeClr val="accent4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>
              <a:solidFill>
                <a:schemeClr val="tx1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9212379" y="5093449"/>
            <a:ext cx="1013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i="1" dirty="0" smtClean="0"/>
              <a:t>Interface</a:t>
            </a:r>
            <a:endParaRPr lang="fr-FR" i="1" dirty="0"/>
          </a:p>
        </p:txBody>
      </p:sp>
      <p:sp>
        <p:nvSpPr>
          <p:cNvPr id="35" name="Rectangle 34"/>
          <p:cNvSpPr/>
          <p:nvPr/>
        </p:nvSpPr>
        <p:spPr>
          <a:xfrm>
            <a:off x="8792147" y="5648670"/>
            <a:ext cx="136143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i="1" dirty="0" smtClean="0">
                <a:solidFill>
                  <a:schemeClr val="bg1"/>
                </a:solidFill>
              </a:rPr>
              <a:t>Web </a:t>
            </a:r>
            <a:r>
              <a:rPr lang="fr-FR" i="1" dirty="0" err="1" smtClean="0">
                <a:solidFill>
                  <a:schemeClr val="bg1"/>
                </a:solidFill>
              </a:rPr>
              <a:t>Dyno</a:t>
            </a:r>
            <a:endParaRPr lang="fr-FR" i="1" dirty="0">
              <a:solidFill>
                <a:schemeClr val="bg1"/>
              </a:solidFill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6159" y="4436371"/>
            <a:ext cx="552974" cy="689196"/>
          </a:xfrm>
          <a:prstGeom prst="rect">
            <a:avLst/>
          </a:prstGeom>
        </p:spPr>
      </p:pic>
      <p:pic>
        <p:nvPicPr>
          <p:cNvPr id="38" name="Image 3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6278" y="4436321"/>
            <a:ext cx="552974" cy="689296"/>
          </a:xfrm>
          <a:prstGeom prst="rect">
            <a:avLst/>
          </a:prstGeom>
        </p:spPr>
      </p:pic>
      <p:pic>
        <p:nvPicPr>
          <p:cNvPr id="39" name="Image 3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6397" y="4436371"/>
            <a:ext cx="552974" cy="689196"/>
          </a:xfrm>
          <a:prstGeom prst="rect">
            <a:avLst/>
          </a:prstGeom>
        </p:spPr>
      </p:pic>
      <p:pic>
        <p:nvPicPr>
          <p:cNvPr id="40" name="Image 3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4023" y="4436371"/>
            <a:ext cx="552974" cy="689196"/>
          </a:xfrm>
          <a:prstGeom prst="rect">
            <a:avLst/>
          </a:prstGeom>
        </p:spPr>
      </p:pic>
      <p:pic>
        <p:nvPicPr>
          <p:cNvPr id="41" name="Image 4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4142" y="4436371"/>
            <a:ext cx="552974" cy="689196"/>
          </a:xfrm>
          <a:prstGeom prst="rect">
            <a:avLst/>
          </a:prstGeom>
        </p:spPr>
      </p:pic>
      <p:pic>
        <p:nvPicPr>
          <p:cNvPr id="42" name="Image 4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261" y="4436371"/>
            <a:ext cx="552974" cy="689196"/>
          </a:xfrm>
          <a:prstGeom prst="rect">
            <a:avLst/>
          </a:prstGeom>
        </p:spPr>
      </p:pic>
      <p:sp>
        <p:nvSpPr>
          <p:cNvPr id="49" name="ZoneTexte 48"/>
          <p:cNvSpPr txBox="1"/>
          <p:nvPr/>
        </p:nvSpPr>
        <p:spPr>
          <a:xfrm>
            <a:off x="4149598" y="3497560"/>
            <a:ext cx="16233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smtClean="0"/>
              <a:t>Requirements.txt</a:t>
            </a:r>
          </a:p>
        </p:txBody>
      </p:sp>
      <p:sp>
        <p:nvSpPr>
          <p:cNvPr id="50" name="ZoneTexte 49"/>
          <p:cNvSpPr txBox="1"/>
          <p:nvPr/>
        </p:nvSpPr>
        <p:spPr>
          <a:xfrm>
            <a:off x="4508285" y="3860505"/>
            <a:ext cx="9151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smtClean="0"/>
              <a:t>Setup.py</a:t>
            </a:r>
            <a:endParaRPr lang="fr-FR" sz="1600" dirty="0" smtClean="0"/>
          </a:p>
        </p:txBody>
      </p:sp>
      <p:sp>
        <p:nvSpPr>
          <p:cNvPr id="51" name="Organigramme : Processus 50"/>
          <p:cNvSpPr/>
          <p:nvPr/>
        </p:nvSpPr>
        <p:spPr>
          <a:xfrm>
            <a:off x="4237720" y="4368798"/>
            <a:ext cx="1444968" cy="1370982"/>
          </a:xfrm>
          <a:prstGeom prst="flowChartProcess">
            <a:avLst/>
          </a:prstGeom>
          <a:solidFill>
            <a:srgbClr val="FF5050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>
              <a:solidFill>
                <a:schemeClr val="tx1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4280475" y="5093449"/>
            <a:ext cx="127756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i="1" dirty="0" err="1" smtClean="0">
                <a:solidFill>
                  <a:schemeClr val="bg1"/>
                </a:solidFill>
              </a:rPr>
              <a:t>Core</a:t>
            </a:r>
            <a:endParaRPr lang="fr-FR" i="1" dirty="0" smtClean="0">
              <a:solidFill>
                <a:schemeClr val="bg1"/>
              </a:solidFill>
            </a:endParaRPr>
          </a:p>
          <a:p>
            <a:pPr algn="ctr"/>
            <a:r>
              <a:rPr lang="fr-FR" i="1" dirty="0" smtClean="0">
                <a:solidFill>
                  <a:schemeClr val="bg1"/>
                </a:solidFill>
              </a:rPr>
              <a:t> source files</a:t>
            </a:r>
            <a:endParaRPr lang="fr-FR" i="1" dirty="0">
              <a:solidFill>
                <a:schemeClr val="bg1"/>
              </a:solidFill>
            </a:endParaRPr>
          </a:p>
        </p:txBody>
      </p:sp>
      <p:pic>
        <p:nvPicPr>
          <p:cNvPr id="53" name="Image 5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4922" y="4436371"/>
            <a:ext cx="413579" cy="515462"/>
          </a:xfrm>
          <a:prstGeom prst="rect">
            <a:avLst/>
          </a:prstGeom>
        </p:spPr>
      </p:pic>
      <p:pic>
        <p:nvPicPr>
          <p:cNvPr id="54" name="Image 5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2032" y="4436371"/>
            <a:ext cx="413579" cy="515462"/>
          </a:xfrm>
          <a:prstGeom prst="rect">
            <a:avLst/>
          </a:prstGeom>
        </p:spPr>
      </p:pic>
      <p:pic>
        <p:nvPicPr>
          <p:cNvPr id="55" name="Image 5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2942" y="4436371"/>
            <a:ext cx="413579" cy="515462"/>
          </a:xfrm>
          <a:prstGeom prst="rect">
            <a:avLst/>
          </a:prstGeom>
        </p:spPr>
      </p:pic>
      <p:sp>
        <p:nvSpPr>
          <p:cNvPr id="57" name="Organigramme : Processus 56"/>
          <p:cNvSpPr/>
          <p:nvPr/>
        </p:nvSpPr>
        <p:spPr>
          <a:xfrm>
            <a:off x="6331906" y="4368798"/>
            <a:ext cx="1444968" cy="1370982"/>
          </a:xfrm>
          <a:prstGeom prst="flowChartProcess">
            <a:avLst/>
          </a:prstGeom>
          <a:solidFill>
            <a:schemeClr val="accent4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>
              <a:solidFill>
                <a:schemeClr val="tx1"/>
              </a:solidFill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6374661" y="5093449"/>
            <a:ext cx="127756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i="1" dirty="0" smtClean="0"/>
              <a:t>Interface</a:t>
            </a:r>
          </a:p>
          <a:p>
            <a:pPr algn="ctr"/>
            <a:r>
              <a:rPr lang="fr-FR" i="1" dirty="0" smtClean="0"/>
              <a:t> source files</a:t>
            </a:r>
            <a:endParaRPr lang="fr-FR" i="1" dirty="0"/>
          </a:p>
        </p:txBody>
      </p:sp>
      <p:pic>
        <p:nvPicPr>
          <p:cNvPr id="60" name="Image 59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9108" y="4436371"/>
            <a:ext cx="413578" cy="515462"/>
          </a:xfrm>
          <a:prstGeom prst="rect">
            <a:avLst/>
          </a:prstGeom>
        </p:spPr>
      </p:pic>
      <p:pic>
        <p:nvPicPr>
          <p:cNvPr id="63" name="Image 62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6248" y="4436371"/>
            <a:ext cx="413519" cy="515462"/>
          </a:xfrm>
          <a:prstGeom prst="rect">
            <a:avLst/>
          </a:prstGeom>
        </p:spPr>
      </p:pic>
      <p:pic>
        <p:nvPicPr>
          <p:cNvPr id="64" name="Image 6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7128" y="4436371"/>
            <a:ext cx="413579" cy="515462"/>
          </a:xfrm>
          <a:prstGeom prst="rect">
            <a:avLst/>
          </a:prstGeom>
        </p:spPr>
      </p:pic>
      <p:cxnSp>
        <p:nvCxnSpPr>
          <p:cNvPr id="7" name="Connecteur droit 6"/>
          <p:cNvCxnSpPr>
            <a:stCxn id="47" idx="3"/>
            <a:endCxn id="45" idx="1"/>
          </p:cNvCxnSpPr>
          <p:nvPr/>
        </p:nvCxnSpPr>
        <p:spPr>
          <a:xfrm flipV="1">
            <a:off x="7870659" y="4876800"/>
            <a:ext cx="453687" cy="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>
            <a:stCxn id="48" idx="1"/>
            <a:endCxn id="73" idx="3"/>
          </p:cNvCxnSpPr>
          <p:nvPr/>
        </p:nvCxnSpPr>
        <p:spPr>
          <a:xfrm flipH="1" flipV="1">
            <a:off x="3717439" y="4876800"/>
            <a:ext cx="417873" cy="436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ZoneTexte 67"/>
          <p:cNvSpPr txBox="1"/>
          <p:nvPr/>
        </p:nvSpPr>
        <p:spPr>
          <a:xfrm>
            <a:off x="9341204" y="3497560"/>
            <a:ext cx="18031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</a:rPr>
              <a:t>Requirements.txt</a:t>
            </a:r>
          </a:p>
        </p:txBody>
      </p:sp>
      <p:sp>
        <p:nvSpPr>
          <p:cNvPr id="69" name="ZoneTexte 68"/>
          <p:cNvSpPr txBox="1"/>
          <p:nvPr/>
        </p:nvSpPr>
        <p:spPr>
          <a:xfrm>
            <a:off x="9707533" y="3860505"/>
            <a:ext cx="8910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 smtClean="0">
                <a:solidFill>
                  <a:schemeClr val="bg1"/>
                </a:solidFill>
              </a:rPr>
              <a:t>Procfile</a:t>
            </a:r>
            <a:endParaRPr lang="fr-FR" dirty="0" smtClean="0">
              <a:solidFill>
                <a:schemeClr val="bg1"/>
              </a:solidFill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4169986" y="6175662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i="1" dirty="0" smtClean="0"/>
              <a:t>Git</a:t>
            </a:r>
            <a:endParaRPr lang="fr-FR" i="1" dirty="0"/>
          </a:p>
        </p:txBody>
      </p:sp>
      <p:sp>
        <p:nvSpPr>
          <p:cNvPr id="77" name="Rectangle 76"/>
          <p:cNvSpPr/>
          <p:nvPr/>
        </p:nvSpPr>
        <p:spPr>
          <a:xfrm>
            <a:off x="6289403" y="6175662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i="1" dirty="0" smtClean="0"/>
              <a:t>Git</a:t>
            </a:r>
            <a:endParaRPr lang="fr-FR" i="1" dirty="0"/>
          </a:p>
        </p:txBody>
      </p:sp>
    </p:spTree>
    <p:extLst>
      <p:ext uri="{BB962C8B-B14F-4D97-AF65-F5344CB8AC3E}">
        <p14:creationId xmlns:p14="http://schemas.microsoft.com/office/powerpoint/2010/main" val="904234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4" grpId="0" animBg="1"/>
      <p:bldP spid="47" grpId="0" animBg="1"/>
      <p:bldP spid="48" grpId="0" animBg="1"/>
      <p:bldP spid="46" grpId="0"/>
      <p:bldP spid="73" grpId="0" animBg="1"/>
      <p:bldP spid="5" grpId="0" animBg="1"/>
      <p:bldP spid="59" grpId="0"/>
      <p:bldP spid="61" grpId="0"/>
      <p:bldP spid="62" grpId="0" animBg="1"/>
      <p:bldP spid="2" grpId="0"/>
      <p:bldP spid="83" grpId="0"/>
      <p:bldP spid="31" grpId="0"/>
      <p:bldP spid="32" grpId="0"/>
      <p:bldP spid="33" grpId="0" animBg="1"/>
      <p:bldP spid="34" grpId="0"/>
      <p:bldP spid="35" grpId="0"/>
      <p:bldP spid="49" grpId="0"/>
      <p:bldP spid="50" grpId="0"/>
      <p:bldP spid="51" grpId="0" animBg="1"/>
      <p:bldP spid="52" grpId="0"/>
      <p:bldP spid="57" grpId="0" animBg="1"/>
      <p:bldP spid="58" grpId="0"/>
      <p:bldP spid="68" grpId="0"/>
      <p:bldP spid="69" grpId="0"/>
      <p:bldP spid="76" grpId="0"/>
      <p:bldP spid="7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1"/>
            <a:ext cx="12192000" cy="6245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Pentagone 10"/>
          <p:cNvSpPr/>
          <p:nvPr/>
        </p:nvSpPr>
        <p:spPr>
          <a:xfrm>
            <a:off x="8159279" y="239913"/>
            <a:ext cx="102968" cy="119062"/>
          </a:xfrm>
          <a:prstGeom prst="homePlat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>
              <a:solidFill>
                <a:schemeClr val="accent2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2278883" y="114778"/>
            <a:ext cx="2725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Rappel du contexte</a:t>
            </a:r>
            <a:endParaRPr lang="fr-FR" b="1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Arrondir un rectangle avec un coin diagonal 12"/>
          <p:cNvSpPr/>
          <p:nvPr/>
        </p:nvSpPr>
        <p:spPr>
          <a:xfrm>
            <a:off x="5599309" y="241182"/>
            <a:ext cx="99717" cy="119062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 b="1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5691505" y="122153"/>
            <a:ext cx="178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Fonctionnel</a:t>
            </a:r>
            <a:endParaRPr lang="fr-FR" b="1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ZoneTexte 14"/>
          <p:cNvSpPr txBox="1"/>
          <p:nvPr/>
        </p:nvSpPr>
        <p:spPr>
          <a:xfrm>
            <a:off x="8243955" y="119616"/>
            <a:ext cx="1669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177800" algn="l"/>
              </a:tabLst>
            </a:pPr>
            <a:r>
              <a:rPr lang="fr-FR" b="1" dirty="0" smtClean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Technique</a:t>
            </a:r>
            <a:endParaRPr lang="fr-FR" b="1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Arrondir un rectangle avec un coin diagonal 15"/>
          <p:cNvSpPr/>
          <p:nvPr/>
        </p:nvSpPr>
        <p:spPr>
          <a:xfrm>
            <a:off x="2188269" y="241182"/>
            <a:ext cx="99717" cy="119062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 b="1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9" name="Imag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446" y="749668"/>
            <a:ext cx="992305" cy="992305"/>
          </a:xfrm>
          <a:prstGeom prst="rect">
            <a:avLst/>
          </a:prstGeom>
        </p:spPr>
      </p:pic>
      <p:pic>
        <p:nvPicPr>
          <p:cNvPr id="20" name="Image 1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8249" y="813971"/>
            <a:ext cx="928986" cy="928001"/>
          </a:xfrm>
          <a:prstGeom prst="rect">
            <a:avLst/>
          </a:prstGeom>
        </p:spPr>
      </p:pic>
      <p:sp>
        <p:nvSpPr>
          <p:cNvPr id="22" name="ZoneTexte 21"/>
          <p:cNvSpPr txBox="1"/>
          <p:nvPr/>
        </p:nvSpPr>
        <p:spPr>
          <a:xfrm>
            <a:off x="1584356" y="765587"/>
            <a:ext cx="90232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7200" dirty="0" smtClean="0">
                <a:latin typeface="Bebas Neue" panose="020B0606020202050201" pitchFamily="34" charset="0"/>
              </a:rPr>
              <a:t>Procédures </a:t>
            </a:r>
            <a:r>
              <a:rPr lang="fr-FR" sz="7200" dirty="0" smtClean="0">
                <a:latin typeface="Bebas Neue" panose="020B0606020202050201" pitchFamily="34" charset="0"/>
              </a:rPr>
              <a:t>de </a:t>
            </a:r>
            <a:r>
              <a:rPr lang="fr-FR" sz="7200" dirty="0" smtClean="0">
                <a:latin typeface="Bebas Neue" panose="020B0606020202050201" pitchFamily="34" charset="0"/>
              </a:rPr>
              <a:t>mise à jour</a:t>
            </a:r>
            <a:endParaRPr lang="fr-FR" sz="7200" dirty="0">
              <a:latin typeface="Bebas Neue" panose="020B0606020202050201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80389" y="2389239"/>
            <a:ext cx="3490452" cy="39722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" name="Rectangle 16"/>
          <p:cNvSpPr/>
          <p:nvPr/>
        </p:nvSpPr>
        <p:spPr>
          <a:xfrm>
            <a:off x="4383586" y="2389239"/>
            <a:ext cx="3490452" cy="3972232"/>
          </a:xfrm>
          <a:prstGeom prst="rect">
            <a:avLst/>
          </a:prstGeom>
          <a:solidFill>
            <a:srgbClr val="64C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Rectangle 22"/>
          <p:cNvSpPr/>
          <p:nvPr/>
        </p:nvSpPr>
        <p:spPr>
          <a:xfrm>
            <a:off x="8286783" y="2389239"/>
            <a:ext cx="3490452" cy="39722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ZoneTexte 23"/>
          <p:cNvSpPr txBox="1"/>
          <p:nvPr/>
        </p:nvSpPr>
        <p:spPr>
          <a:xfrm>
            <a:off x="480389" y="2558747"/>
            <a:ext cx="34904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 smtClean="0">
                <a:solidFill>
                  <a:schemeClr val="bg1"/>
                </a:solidFill>
              </a:rPr>
              <a:t>Base de données</a:t>
            </a:r>
            <a:endParaRPr lang="fr-FR" sz="2800" dirty="0" smtClean="0">
              <a:solidFill>
                <a:schemeClr val="bg1"/>
              </a:solidFill>
            </a:endParaRPr>
          </a:p>
        </p:txBody>
      </p:sp>
      <p:sp>
        <p:nvSpPr>
          <p:cNvPr id="25" name="ZoneTexte 24"/>
          <p:cNvSpPr txBox="1"/>
          <p:nvPr/>
        </p:nvSpPr>
        <p:spPr>
          <a:xfrm>
            <a:off x="4383586" y="2558747"/>
            <a:ext cx="34904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 smtClean="0">
                <a:solidFill>
                  <a:schemeClr val="bg1"/>
                </a:solidFill>
              </a:rPr>
              <a:t>Design</a:t>
            </a:r>
            <a:endParaRPr lang="fr-FR" sz="2800" dirty="0" smtClean="0">
              <a:solidFill>
                <a:schemeClr val="bg1"/>
              </a:solidFill>
            </a:endParaRPr>
          </a:p>
        </p:txBody>
      </p:sp>
      <p:sp>
        <p:nvSpPr>
          <p:cNvPr id="26" name="ZoneTexte 25"/>
          <p:cNvSpPr txBox="1"/>
          <p:nvPr/>
        </p:nvSpPr>
        <p:spPr>
          <a:xfrm>
            <a:off x="8286783" y="2558747"/>
            <a:ext cx="34904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 smtClean="0"/>
              <a:t>Fonctionnalités</a:t>
            </a:r>
            <a:endParaRPr lang="fr-FR" sz="2800" dirty="0" smtClean="0"/>
          </a:p>
        </p:txBody>
      </p:sp>
      <p:sp>
        <p:nvSpPr>
          <p:cNvPr id="27" name="ZoneTexte 26"/>
          <p:cNvSpPr txBox="1"/>
          <p:nvPr/>
        </p:nvSpPr>
        <p:spPr>
          <a:xfrm>
            <a:off x="480388" y="3521389"/>
            <a:ext cx="349045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200" dirty="0" smtClean="0">
                <a:solidFill>
                  <a:schemeClr val="bg1"/>
                </a:solidFill>
              </a:rPr>
              <a:t>Manuelle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200" dirty="0" smtClean="0">
                <a:solidFill>
                  <a:schemeClr val="bg1"/>
                </a:solidFill>
              </a:rPr>
              <a:t>Concertations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200" dirty="0" smtClean="0">
                <a:solidFill>
                  <a:schemeClr val="bg1"/>
                </a:solidFill>
              </a:rPr>
              <a:t>Vérifications</a:t>
            </a:r>
            <a:endParaRPr lang="fr-FR" sz="2200" dirty="0" smtClean="0">
              <a:solidFill>
                <a:schemeClr val="bg1"/>
              </a:solidFill>
            </a:endParaRPr>
          </a:p>
        </p:txBody>
      </p:sp>
      <p:sp>
        <p:nvSpPr>
          <p:cNvPr id="28" name="ZoneTexte 27"/>
          <p:cNvSpPr txBox="1"/>
          <p:nvPr/>
        </p:nvSpPr>
        <p:spPr>
          <a:xfrm>
            <a:off x="4383586" y="3521389"/>
            <a:ext cx="34904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200" dirty="0" smtClean="0">
                <a:solidFill>
                  <a:schemeClr val="bg1"/>
                </a:solidFill>
              </a:rPr>
              <a:t>Concertations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200" dirty="0" smtClean="0">
                <a:solidFill>
                  <a:schemeClr val="bg1"/>
                </a:solidFill>
              </a:rPr>
              <a:t>Coûts supplémentaires</a:t>
            </a:r>
            <a:endParaRPr lang="fr-FR" sz="2200" dirty="0" smtClean="0">
              <a:solidFill>
                <a:schemeClr val="bg1"/>
              </a:solidFill>
            </a:endParaRPr>
          </a:p>
        </p:txBody>
      </p:sp>
      <p:sp>
        <p:nvSpPr>
          <p:cNvPr id="29" name="ZoneTexte 28"/>
          <p:cNvSpPr txBox="1"/>
          <p:nvPr/>
        </p:nvSpPr>
        <p:spPr>
          <a:xfrm>
            <a:off x="8286784" y="3521389"/>
            <a:ext cx="3490451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200" dirty="0" smtClean="0"/>
              <a:t>Nécessité prouvée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200" dirty="0" smtClean="0"/>
              <a:t>Coûts supplémentaires possibles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200" dirty="0" smtClean="0"/>
              <a:t>Mises à jour failles/mise à jour dépendances</a:t>
            </a:r>
            <a:endParaRPr lang="fr-FR" sz="2200" dirty="0" smtClean="0"/>
          </a:p>
        </p:txBody>
      </p:sp>
    </p:spTree>
    <p:extLst>
      <p:ext uri="{BB962C8B-B14F-4D97-AF65-F5344CB8AC3E}">
        <p14:creationId xmlns:p14="http://schemas.microsoft.com/office/powerpoint/2010/main" val="1720056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7" grpId="0" animBg="1"/>
      <p:bldP spid="23" grpId="0" animBg="1"/>
      <p:bldP spid="24" grpId="0"/>
      <p:bldP spid="25" grpId="0"/>
      <p:bldP spid="2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43752" y="2389239"/>
            <a:ext cx="3490452" cy="397223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7" name="Cylindre 36"/>
          <p:cNvSpPr/>
          <p:nvPr/>
        </p:nvSpPr>
        <p:spPr>
          <a:xfrm>
            <a:off x="1709840" y="2600099"/>
            <a:ext cx="2751274" cy="1528768"/>
          </a:xfrm>
          <a:prstGeom prst="can">
            <a:avLst/>
          </a:prstGeom>
          <a:solidFill>
            <a:schemeClr val="tx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/>
          <p:cNvSpPr/>
          <p:nvPr/>
        </p:nvSpPr>
        <p:spPr>
          <a:xfrm>
            <a:off x="0" y="1"/>
            <a:ext cx="12192000" cy="6245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Pentagone 10"/>
          <p:cNvSpPr/>
          <p:nvPr/>
        </p:nvSpPr>
        <p:spPr>
          <a:xfrm>
            <a:off x="8159279" y="239913"/>
            <a:ext cx="102968" cy="119062"/>
          </a:xfrm>
          <a:prstGeom prst="homePlat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>
              <a:solidFill>
                <a:schemeClr val="accent2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2278883" y="114778"/>
            <a:ext cx="2725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Rappel du contexte</a:t>
            </a:r>
            <a:endParaRPr lang="fr-FR" b="1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Arrondir un rectangle avec un coin diagonal 12"/>
          <p:cNvSpPr/>
          <p:nvPr/>
        </p:nvSpPr>
        <p:spPr>
          <a:xfrm>
            <a:off x="5599309" y="241182"/>
            <a:ext cx="99717" cy="119062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 b="1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5691505" y="122153"/>
            <a:ext cx="178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Fonctionnel</a:t>
            </a:r>
            <a:endParaRPr lang="fr-FR" b="1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ZoneTexte 14"/>
          <p:cNvSpPr txBox="1"/>
          <p:nvPr/>
        </p:nvSpPr>
        <p:spPr>
          <a:xfrm>
            <a:off x="8243955" y="119616"/>
            <a:ext cx="1669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177800" algn="l"/>
              </a:tabLst>
            </a:pPr>
            <a:r>
              <a:rPr lang="fr-FR" b="1" dirty="0" smtClean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Technique</a:t>
            </a:r>
            <a:endParaRPr lang="fr-FR" b="1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Arrondir un rectangle avec un coin diagonal 15"/>
          <p:cNvSpPr/>
          <p:nvPr/>
        </p:nvSpPr>
        <p:spPr>
          <a:xfrm>
            <a:off x="2188269" y="241182"/>
            <a:ext cx="99717" cy="119062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 b="1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9" name="Imag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446" y="749668"/>
            <a:ext cx="992305" cy="992305"/>
          </a:xfrm>
          <a:prstGeom prst="rect">
            <a:avLst/>
          </a:prstGeom>
        </p:spPr>
      </p:pic>
      <p:pic>
        <p:nvPicPr>
          <p:cNvPr id="20" name="Image 1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8249" y="813971"/>
            <a:ext cx="928986" cy="928001"/>
          </a:xfrm>
          <a:prstGeom prst="rect">
            <a:avLst/>
          </a:prstGeom>
        </p:spPr>
      </p:pic>
      <p:sp>
        <p:nvSpPr>
          <p:cNvPr id="22" name="ZoneTexte 21"/>
          <p:cNvSpPr txBox="1"/>
          <p:nvPr/>
        </p:nvSpPr>
        <p:spPr>
          <a:xfrm>
            <a:off x="1584356" y="765587"/>
            <a:ext cx="90232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7200" dirty="0" smtClean="0">
                <a:latin typeface="Bebas Neue" panose="020B0606020202050201" pitchFamily="34" charset="0"/>
              </a:rPr>
              <a:t>Procédures </a:t>
            </a:r>
            <a:r>
              <a:rPr lang="fr-FR" sz="7200" dirty="0" smtClean="0">
                <a:latin typeface="Bebas Neue" panose="020B0606020202050201" pitchFamily="34" charset="0"/>
              </a:rPr>
              <a:t>de </a:t>
            </a:r>
            <a:r>
              <a:rPr lang="fr-FR" sz="7200" dirty="0" smtClean="0">
                <a:latin typeface="Bebas Neue" panose="020B0606020202050201" pitchFamily="34" charset="0"/>
              </a:rPr>
              <a:t>sauvegarde</a:t>
            </a:r>
            <a:endParaRPr lang="fr-FR" sz="7200" dirty="0">
              <a:latin typeface="Bebas Neue" panose="020B0606020202050201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380293" y="2723534"/>
            <a:ext cx="3490452" cy="94389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ZoneTexte 23"/>
          <p:cNvSpPr txBox="1"/>
          <p:nvPr/>
        </p:nvSpPr>
        <p:spPr>
          <a:xfrm>
            <a:off x="1340251" y="3043370"/>
            <a:ext cx="349045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 smtClean="0">
                <a:solidFill>
                  <a:schemeClr val="bg1"/>
                </a:solidFill>
              </a:rPr>
              <a:t>Base de données</a:t>
            </a:r>
          </a:p>
          <a:p>
            <a:pPr algn="ctr"/>
            <a:r>
              <a:rPr lang="fr-FR" sz="2800" dirty="0" smtClean="0">
                <a:solidFill>
                  <a:schemeClr val="bg1"/>
                </a:solidFill>
              </a:rPr>
              <a:t>PostgreSQL</a:t>
            </a:r>
            <a:endParaRPr lang="fr-FR" sz="2800" dirty="0" smtClean="0">
              <a:solidFill>
                <a:schemeClr val="bg1"/>
              </a:solidFill>
            </a:endParaRPr>
          </a:p>
        </p:txBody>
      </p:sp>
      <p:sp>
        <p:nvSpPr>
          <p:cNvPr id="25" name="ZoneTexte 24"/>
          <p:cNvSpPr txBox="1"/>
          <p:nvPr/>
        </p:nvSpPr>
        <p:spPr>
          <a:xfrm>
            <a:off x="7376792" y="2910322"/>
            <a:ext cx="34904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 smtClean="0">
                <a:solidFill>
                  <a:schemeClr val="bg1"/>
                </a:solidFill>
              </a:rPr>
              <a:t>Serveur OC Pizza</a:t>
            </a:r>
            <a:endParaRPr lang="fr-FR" sz="2800" dirty="0" smtClean="0">
              <a:solidFill>
                <a:schemeClr val="bg1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7380293" y="3944615"/>
            <a:ext cx="3490452" cy="90796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ZoneTexte 30"/>
          <p:cNvSpPr txBox="1"/>
          <p:nvPr/>
        </p:nvSpPr>
        <p:spPr>
          <a:xfrm>
            <a:off x="7380293" y="4141909"/>
            <a:ext cx="34904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 smtClean="0">
                <a:solidFill>
                  <a:schemeClr val="bg1"/>
                </a:solidFill>
              </a:rPr>
              <a:t>Serveur NGL</a:t>
            </a:r>
            <a:endParaRPr lang="fr-FR" sz="2800" dirty="0" smtClean="0">
              <a:solidFill>
                <a:schemeClr val="bg1"/>
              </a:solidFill>
            </a:endParaRPr>
          </a:p>
        </p:txBody>
      </p:sp>
      <p:cxnSp>
        <p:nvCxnSpPr>
          <p:cNvPr id="6" name="Connecteur en angle 5"/>
          <p:cNvCxnSpPr>
            <a:endCxn id="25" idx="1"/>
          </p:cNvCxnSpPr>
          <p:nvPr/>
        </p:nvCxnSpPr>
        <p:spPr>
          <a:xfrm flipV="1">
            <a:off x="4441801" y="3171932"/>
            <a:ext cx="2934991" cy="140102"/>
          </a:xfrm>
          <a:prstGeom prst="bentConnector3">
            <a:avLst>
              <a:gd name="adj1" fmla="val 49666"/>
            </a:avLst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en angle 7"/>
          <p:cNvCxnSpPr>
            <a:endCxn id="31" idx="1"/>
          </p:cNvCxnSpPr>
          <p:nvPr/>
        </p:nvCxnSpPr>
        <p:spPr>
          <a:xfrm>
            <a:off x="4461114" y="3312034"/>
            <a:ext cx="2919179" cy="1091485"/>
          </a:xfrm>
          <a:prstGeom prst="bentConnector3">
            <a:avLst>
              <a:gd name="adj1" fmla="val 49326"/>
            </a:avLst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1383661" y="5980313"/>
            <a:ext cx="8544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i="1" dirty="0" err="1" smtClean="0">
                <a:solidFill>
                  <a:schemeClr val="bg1"/>
                </a:solidFill>
              </a:rPr>
              <a:t>Heroku</a:t>
            </a:r>
            <a:endParaRPr lang="fr-FR" i="1" dirty="0">
              <a:solidFill>
                <a:schemeClr val="bg1"/>
              </a:solidFill>
            </a:endParaRPr>
          </a:p>
        </p:txBody>
      </p:sp>
      <p:sp>
        <p:nvSpPr>
          <p:cNvPr id="38" name="Organigramme : Processus 37"/>
          <p:cNvSpPr/>
          <p:nvPr/>
        </p:nvSpPr>
        <p:spPr>
          <a:xfrm>
            <a:off x="1731632" y="4706691"/>
            <a:ext cx="2719649" cy="1107129"/>
          </a:xfrm>
          <a:prstGeom prst="flowChartProcess">
            <a:avLst/>
          </a:prstGeom>
          <a:solidFill>
            <a:srgbClr val="FF5050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>
              <a:solidFill>
                <a:schemeClr val="tx1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1700008" y="5431342"/>
            <a:ext cx="17081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i="1" dirty="0">
                <a:solidFill>
                  <a:schemeClr val="bg1"/>
                </a:solidFill>
              </a:rPr>
              <a:t>Application </a:t>
            </a:r>
            <a:r>
              <a:rPr lang="fr-FR" i="1" dirty="0" err="1">
                <a:solidFill>
                  <a:schemeClr val="bg1"/>
                </a:solidFill>
              </a:rPr>
              <a:t>core</a:t>
            </a:r>
            <a:endParaRPr lang="fr-FR" i="1" dirty="0">
              <a:solidFill>
                <a:schemeClr val="bg1"/>
              </a:solidFill>
            </a:endParaRPr>
          </a:p>
        </p:txBody>
      </p:sp>
      <p:sp>
        <p:nvSpPr>
          <p:cNvPr id="27" name="ZoneTexte 26"/>
          <p:cNvSpPr txBox="1"/>
          <p:nvPr/>
        </p:nvSpPr>
        <p:spPr>
          <a:xfrm>
            <a:off x="1731632" y="4852583"/>
            <a:ext cx="27196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200" dirty="0" smtClean="0">
                <a:solidFill>
                  <a:schemeClr val="bg1"/>
                </a:solidFill>
              </a:rPr>
              <a:t>Script de sauvegarde</a:t>
            </a:r>
            <a:endParaRPr lang="fr-FR" sz="2200" dirty="0" smtClean="0">
              <a:solidFill>
                <a:schemeClr val="bg1"/>
              </a:solidFill>
            </a:endParaRPr>
          </a:p>
        </p:txBody>
      </p:sp>
      <p:cxnSp>
        <p:nvCxnSpPr>
          <p:cNvPr id="41" name="Connecteur droit avec flèche 40"/>
          <p:cNvCxnSpPr>
            <a:stCxn id="38" idx="0"/>
            <a:endCxn id="37" idx="3"/>
          </p:cNvCxnSpPr>
          <p:nvPr/>
        </p:nvCxnSpPr>
        <p:spPr>
          <a:xfrm flipH="1" flipV="1">
            <a:off x="3085477" y="4128867"/>
            <a:ext cx="5980" cy="577824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en angle 53"/>
          <p:cNvCxnSpPr>
            <a:endCxn id="61" idx="1"/>
          </p:cNvCxnSpPr>
          <p:nvPr/>
        </p:nvCxnSpPr>
        <p:spPr>
          <a:xfrm>
            <a:off x="4441801" y="3864725"/>
            <a:ext cx="2934991" cy="2115588"/>
          </a:xfrm>
          <a:prstGeom prst="bentConnector3">
            <a:avLst>
              <a:gd name="adj1" fmla="val 35595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7376792" y="5386612"/>
            <a:ext cx="3490452" cy="118740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4" name="Rectangle 63"/>
          <p:cNvSpPr/>
          <p:nvPr/>
        </p:nvSpPr>
        <p:spPr>
          <a:xfrm>
            <a:off x="5365672" y="5990144"/>
            <a:ext cx="170495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i="1" dirty="0" err="1" smtClean="0"/>
              <a:t>Heroku</a:t>
            </a:r>
            <a:r>
              <a:rPr lang="fr-FR" i="1" dirty="0" smtClean="0"/>
              <a:t> </a:t>
            </a:r>
          </a:p>
          <a:p>
            <a:r>
              <a:rPr lang="fr-FR" i="1" dirty="0" err="1" smtClean="0"/>
              <a:t>Postgres</a:t>
            </a:r>
            <a:r>
              <a:rPr lang="fr-FR" i="1" dirty="0" smtClean="0"/>
              <a:t> Backup</a:t>
            </a:r>
            <a:endParaRPr lang="fr-FR" i="1" dirty="0"/>
          </a:p>
        </p:txBody>
      </p:sp>
      <p:sp>
        <p:nvSpPr>
          <p:cNvPr id="66" name="ZoneTexte 65"/>
          <p:cNvSpPr txBox="1"/>
          <p:nvPr/>
        </p:nvSpPr>
        <p:spPr>
          <a:xfrm>
            <a:off x="7380293" y="5716061"/>
            <a:ext cx="34904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 smtClean="0">
                <a:solidFill>
                  <a:schemeClr val="bg1"/>
                </a:solidFill>
              </a:rPr>
              <a:t>Sauvegarde logique</a:t>
            </a:r>
            <a:endParaRPr lang="fr-FR" sz="2800" dirty="0" smtClean="0">
              <a:solidFill>
                <a:schemeClr val="bg1"/>
              </a:solidFill>
            </a:endParaRPr>
          </a:p>
        </p:txBody>
      </p:sp>
      <p:sp>
        <p:nvSpPr>
          <p:cNvPr id="67" name="ZoneTexte 66"/>
          <p:cNvSpPr txBox="1"/>
          <p:nvPr/>
        </p:nvSpPr>
        <p:spPr>
          <a:xfrm>
            <a:off x="2049654" y="4267252"/>
            <a:ext cx="34904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 smtClean="0">
                <a:solidFill>
                  <a:schemeClr val="bg1"/>
                </a:solidFill>
              </a:rPr>
              <a:t>3h du matin</a:t>
            </a:r>
            <a:endParaRPr lang="fr-FR" sz="200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977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7" grpId="0" animBg="1"/>
      <p:bldP spid="17" grpId="0" animBg="1"/>
      <p:bldP spid="24" grpId="0"/>
      <p:bldP spid="25" grpId="0"/>
      <p:bldP spid="30" grpId="0" animBg="1"/>
      <p:bldP spid="31" grpId="0"/>
      <p:bldP spid="36" grpId="0"/>
      <p:bldP spid="38" grpId="0" animBg="1"/>
      <p:bldP spid="39" grpId="0"/>
      <p:bldP spid="27" grpId="0"/>
      <p:bldP spid="61" grpId="0" animBg="1"/>
      <p:bldP spid="64" grpId="0"/>
      <p:bldP spid="66" grpId="0"/>
      <p:bldP spid="6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93133" y="-76200"/>
            <a:ext cx="12369800" cy="69934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/>
          <p:cNvSpPr txBox="1"/>
          <p:nvPr/>
        </p:nvSpPr>
        <p:spPr>
          <a:xfrm>
            <a:off x="4328974" y="2312537"/>
            <a:ext cx="3607078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3800" dirty="0" smtClean="0">
                <a:solidFill>
                  <a:schemeClr val="bg1"/>
                </a:solidFill>
              </a:rPr>
              <a:t>Q&amp;A</a:t>
            </a:r>
            <a:endParaRPr lang="fr-FR" sz="13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6791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8"/>
</p:tagLst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3720</TotalTime>
  <Words>336</Words>
  <Application>Microsoft Office PowerPoint</Application>
  <PresentationFormat>Grand écran</PresentationFormat>
  <Paragraphs>147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8" baseType="lpstr">
      <vt:lpstr>Akzidenz-Grotesk BQ</vt:lpstr>
      <vt:lpstr>Arial</vt:lpstr>
      <vt:lpstr>Bebas Neue</vt:lpstr>
      <vt:lpstr>Calibri</vt:lpstr>
      <vt:lpstr>Calibri Light</vt:lpstr>
      <vt:lpstr>Segoe UI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Quentin Lathière</dc:creator>
  <cp:lastModifiedBy>Quentin Lathière</cp:lastModifiedBy>
  <cp:revision>648</cp:revision>
  <dcterms:created xsi:type="dcterms:W3CDTF">2017-11-05T09:03:32Z</dcterms:created>
  <dcterms:modified xsi:type="dcterms:W3CDTF">2018-04-23T14:50:42Z</dcterms:modified>
</cp:coreProperties>
</file>